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7"/>
    <p:sldId id="268" r:id="rId18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1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  <Relationship Id="rId17" Type="http://schemas.openxmlformats.org/officeDocument/2006/relationships/slide" Target="slides/slide12.xml"/>
  <Relationship Id="rId18" Type="http://schemas.openxmlformats.org/officeDocument/2006/relationships/slide" Target="slides/slide13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61120" y="-2194560"/>
            <a:ext cx="5852160" cy="5852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424160" y="-1097280"/>
            <a:ext cx="3566160" cy="3566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30175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0875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7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31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06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44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0875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3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57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31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606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9494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9494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9494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198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198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69680" y="960120"/>
            <a:ext cx="2834640" cy="2834640"/>
          </a:xfrm>
          <a:prstGeom prst="ellipse">
            <a:avLst/>
          </a:prstGeom>
          <a:noFill/>
          <a:ln w="2032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an_X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463040"/>
            <a:ext cx="2574983" cy="53035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720840" y="5870448"/>
            <a:ext cx="2240280" cy="502920"/>
          </a:xfrm>
          <a:prstGeom prst="roundRect">
            <a:avLst>
              <a:gd name="adj" fmla="val 50000"/>
            </a:avLst>
          </a:prstGeom>
          <a:solidFill>
            <a:srgbClr val="182D48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4CC6F1"/>
                </a:solidFill>
                <a:latin typeface="Inter"/>
              </a:rPr>
              <a:t>Aéza-тян · маскот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685800"/>
            <a:ext cx="960120" cy="960120"/>
          </a:xfrm>
          <a:prstGeom prst="roundRect">
            <a:avLst>
              <a:gd name="adj" fmla="val 22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Bahnschrift"/>
              </a:rPr>
              <a:t>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822960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Bahnschrift"/>
              </a:rPr>
              <a:t>Aéza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2331720"/>
            <a:ext cx="82296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Bahnschrift"/>
              </a:rPr>
              <a:t>Анализатор рисков оттока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 i="0">
                <a:solidFill>
                  <a:srgbClr val="4CC6F1"/>
                </a:solidFill>
                <a:latin typeface="Bahnschrift"/>
              </a:rPr>
              <a:t>слой данных на PostgreSQL 16.4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" y="4480560"/>
            <a:ext cx="2743200" cy="3200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754880"/>
            <a:ext cx="8138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hnschrift"/>
              </a:rPr>
              <a:t>Команда «Программисты» · 5 человек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AB4C8"/>
                </a:solidFill>
                <a:latin typeface="Inter"/>
              </a:rPr>
              <a:t>FastAPI · SQLAlchemy 2 · psycopg 3 · Alembic · Docker Compose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-2194560"/>
            <a:ext cx="5852160" cy="5852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841891" y="60473"/>
            <a:ext cx="1005447" cy="996696"/>
          </a:xfrm>
          <a:prstGeom prst="ellipse">
            <a:avLst/>
          </a:prstGeom>
          <a:noFill/>
          <a:ln w="17780">
            <a:solidFill>
              <a:schemeClr val="accent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КОМАНДА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«Программисты» — пять человек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2 /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2633472"/>
            <a:ext cx="10241280" cy="3200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37973" y="2192274"/>
            <a:ext cx="916228" cy="9144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492300" y="2379268"/>
            <a:ext cx="197510" cy="1975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364742" y="2626156"/>
            <a:ext cx="452628" cy="3621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348282" y="2807208"/>
            <a:ext cx="485546" cy="19751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310128"/>
            <a:ext cx="20116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Bahnschrift"/>
              </a:rPr>
              <a:t>Кирилл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Тимлид + Backend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Inter"/>
              </a:rPr>
              <a:t>архитектура, риск-модель, интеграция</a:t>
            </a:r>
          </a:p>
        </p:txBody>
      </p:sp>
      <p:sp>
        <p:nvSpPr>
          <p:cNvPr id="38" name="Oval 37"/>
          <p:cNvSpPr/>
          <p:nvPr/>
        </p:nvSpPr>
        <p:spPr>
          <a:xfrm>
            <a:off x="3389224" y="2168956"/>
            <a:ext cx="916228" cy="9144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60012" y="2379268"/>
            <a:ext cx="197510" cy="1975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2454" y="2626156"/>
            <a:ext cx="452628" cy="3621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615994" y="2807208"/>
            <a:ext cx="485546" cy="19751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52928" y="3310128"/>
            <a:ext cx="20116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Bahnschrift"/>
              </a:rPr>
              <a:t>Аглая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Backend + БД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Inter"/>
              </a:rPr>
              <a:t>API, серверная логика, схема БД</a:t>
            </a:r>
          </a:p>
        </p:txBody>
      </p:sp>
      <p:sp>
        <p:nvSpPr>
          <p:cNvPr id="43" name="Oval 42"/>
          <p:cNvSpPr/>
          <p:nvPr/>
        </p:nvSpPr>
        <p:spPr>
          <a:xfrm>
            <a:off x="5668365" y="2208276"/>
            <a:ext cx="916228" cy="9144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027724" y="2379268"/>
            <a:ext cx="197510" cy="1975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5900166" y="2626156"/>
            <a:ext cx="452628" cy="3621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883706" y="2807208"/>
            <a:ext cx="485546" cy="19751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120640" y="3310128"/>
            <a:ext cx="20116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Bahnschrift"/>
              </a:rPr>
              <a:t>Анна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База данных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Inter"/>
              </a:rPr>
              <a:t>нормализация, миграции, тесты БД</a:t>
            </a:r>
          </a:p>
        </p:txBody>
      </p:sp>
      <p:sp>
        <p:nvSpPr>
          <p:cNvPr id="48" name="Oval 47"/>
          <p:cNvSpPr/>
          <p:nvPr/>
        </p:nvSpPr>
        <p:spPr>
          <a:xfrm>
            <a:off x="7936076" y="2208276"/>
            <a:ext cx="916228" cy="9144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295435" y="2379268"/>
            <a:ext cx="197510" cy="1975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167877" y="2626156"/>
            <a:ext cx="452628" cy="3621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151417" y="2807208"/>
            <a:ext cx="485546" cy="19751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88351" y="3310128"/>
            <a:ext cx="2011680" cy="10605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 i="0" dirty="0" err="1">
                <a:solidFill>
                  <a:srgbClr val="FFFFFF"/>
                </a:solidFill>
                <a:latin typeface="Bahnschrift"/>
              </a:rPr>
              <a:t>Арина</a:t>
            </a:r>
            <a:endParaRPr sz="1900" b="1" i="0" dirty="0">
              <a:solidFill>
                <a:srgbClr val="FFFFFF"/>
              </a:solidFill>
              <a:latin typeface="Bahnschrift"/>
            </a:endParaRP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lang="en-US" sz="1350" b="1" i="0" dirty="0">
                <a:solidFill>
                  <a:srgbClr val="4CC6F1"/>
                </a:solidFill>
                <a:latin typeface="Inter"/>
              </a:rPr>
              <a:t>Math</a:t>
            </a:r>
            <a:endParaRPr sz="1350" b="1" i="0" dirty="0">
              <a:solidFill>
                <a:srgbClr val="4CC6F1"/>
              </a:solidFill>
              <a:latin typeface="Inter"/>
            </a:endParaRP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0" i="0" dirty="0" err="1">
                <a:solidFill>
                  <a:srgbClr val="9AB4C8"/>
                </a:solidFill>
                <a:latin typeface="Inter"/>
              </a:rPr>
              <a:t>панель</a:t>
            </a:r>
            <a:r>
              <a:rPr sz="1250" b="0" i="0" dirty="0">
                <a:solidFill>
                  <a:srgbClr val="9AB4C8"/>
                </a:solidFill>
                <a:latin typeface="Inter"/>
              </a:rPr>
              <a:t>, </a:t>
            </a:r>
            <a:r>
              <a:rPr sz="1250" b="0" i="0" dirty="0" err="1">
                <a:solidFill>
                  <a:srgbClr val="9AB4C8"/>
                </a:solidFill>
                <a:latin typeface="Inter"/>
              </a:rPr>
              <a:t>графики</a:t>
            </a:r>
            <a:r>
              <a:rPr sz="1250" b="0" i="0" dirty="0">
                <a:solidFill>
                  <a:srgbClr val="9AB4C8"/>
                </a:solidFill>
                <a:latin typeface="Inter"/>
              </a:rPr>
              <a:t>, </a:t>
            </a:r>
            <a:r>
              <a:rPr sz="1250" b="0" i="0" dirty="0" err="1">
                <a:solidFill>
                  <a:srgbClr val="9AB4C8"/>
                </a:solidFill>
                <a:latin typeface="Inter"/>
              </a:rPr>
              <a:t>живое</a:t>
            </a:r>
            <a:r>
              <a:rPr sz="1250" b="0" i="0" dirty="0">
                <a:solidFill>
                  <a:srgbClr val="9AB4C8"/>
                </a:solidFill>
                <a:latin typeface="Inter"/>
              </a:rPr>
              <a:t> </a:t>
            </a:r>
            <a:r>
              <a:rPr sz="1250" b="0" i="0" dirty="0" err="1">
                <a:solidFill>
                  <a:srgbClr val="9AB4C8"/>
                </a:solidFill>
                <a:latin typeface="Inter"/>
              </a:rPr>
              <a:t>обновление</a:t>
            </a:r>
            <a:endParaRPr sz="1250" b="0" i="0" dirty="0">
              <a:solidFill>
                <a:srgbClr val="9AB4C8"/>
              </a:solidFill>
              <a:latin typeface="Inter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10151145" y="2192274"/>
            <a:ext cx="1004534" cy="953262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563148" y="2379268"/>
            <a:ext cx="197510" cy="1975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0435590" y="2626156"/>
            <a:ext cx="452628" cy="3621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0419130" y="2807208"/>
            <a:ext cx="485546" cy="19751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56064" y="3310128"/>
            <a:ext cx="20116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Bahnschrift"/>
              </a:rPr>
              <a:t>Катя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Frontend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Inter"/>
              </a:rPr>
              <a:t>интерфейс, UX, визуал данных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D7E9F4"/>
                </a:solidFill>
                <a:latin typeface="Inter"/>
              </a:rPr>
              <a:t>Пять ролей, одна схема данных — </a:t>
            </a:r>
            <a:r>
              <a:rPr sz="1550" b="1" i="0">
                <a:solidFill>
                  <a:srgbClr val="D7E9F4"/>
                </a:solidFill>
                <a:latin typeface="Inter"/>
              </a:rPr>
              <a:t>фронт, бэкенд и БД говорят на языке одних и тех же таблиц.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61120" y="-2194560"/>
            <a:ext cx="5852160" cy="5852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424160" y="-1097280"/>
            <a:ext cx="3566160" cy="3566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30175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0875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7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31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06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44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0875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3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57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31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606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ПРОБЛЕМА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Отток виден заранее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3 /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5296" y="2011680"/>
            <a:ext cx="36576" cy="329184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97280" y="2011680"/>
            <a:ext cx="292608" cy="29260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828800" y="1883664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142A40"/>
                </a:solidFill>
                <a:latin typeface="Bahnschrift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1938528"/>
            <a:ext cx="84124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Истекает срок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AB4C8"/>
                </a:solidFill>
                <a:latin typeface="Inter"/>
              </a:rPr>
              <a:t>услуга заканчивается, а автопродление выключено</a:t>
            </a:r>
          </a:p>
        </p:txBody>
      </p:sp>
      <p:sp>
        <p:nvSpPr>
          <p:cNvPr id="36" name="Oval 35"/>
          <p:cNvSpPr/>
          <p:nvPr/>
        </p:nvSpPr>
        <p:spPr>
          <a:xfrm>
            <a:off x="1097280" y="3218688"/>
            <a:ext cx="292608" cy="29260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828800" y="3090672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142A40"/>
                </a:solidFill>
                <a:latin typeface="Bahnschrift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145536"/>
            <a:ext cx="84124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Не хватает денег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AB4C8"/>
                </a:solidFill>
                <a:latin typeface="Inter"/>
              </a:rPr>
              <a:t>баланса не хватит на ближайшие продления</a:t>
            </a:r>
          </a:p>
        </p:txBody>
      </p:sp>
      <p:sp>
        <p:nvSpPr>
          <p:cNvPr id="39" name="Oval 38"/>
          <p:cNvSpPr/>
          <p:nvPr/>
        </p:nvSpPr>
        <p:spPr>
          <a:xfrm>
            <a:off x="1097280" y="4425696"/>
            <a:ext cx="292608" cy="29260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828800" y="4297680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142A40"/>
                </a:solidFill>
                <a:latin typeface="Bahnschrift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4352544"/>
            <a:ext cx="84124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Ожидает оплаты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AB4C8"/>
                </a:solidFill>
                <a:latin typeface="Inter"/>
              </a:rPr>
              <a:t>prolong_wait: 5 дней до удаления без оплаты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577840"/>
            <a:ext cx="11109960" cy="777240"/>
          </a:xfrm>
          <a:prstGeom prst="roundRect">
            <a:avLst>
              <a:gd name="adj" fmla="val 16000"/>
            </a:avLst>
          </a:prstGeom>
          <a:solidFill>
            <a:srgbClr val="182D48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Inter"/>
              </a:rPr>
              <a:t>Каждый случай — потерянная выручка, которую ещё можно спасти. </a:t>
            </a:r>
            <a:r>
              <a:rPr sz="1600" b="0" i="0">
                <a:solidFill>
                  <a:srgbClr val="4CC6F1"/>
                </a:solidFill>
                <a:latin typeface="Inter"/>
              </a:rPr>
              <a:t>БД связывает балансы, услуги и статусы в прогноз.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2011680"/>
            <a:ext cx="4206240" cy="42062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НАШЕ 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База данных — единственный источник правды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4 / 13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3931920" y="2450592"/>
            <a:ext cx="1417320" cy="841248"/>
          </a:xfrm>
          <a:prstGeom prst="line">
            <a:avLst/>
          </a:prstGeom>
          <a:ln w="16510">
            <a:solidFill>
              <a:srgbClr val="4CC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858000" y="2450592"/>
            <a:ext cx="1371600" cy="841248"/>
          </a:xfrm>
          <a:prstGeom prst="line">
            <a:avLst/>
          </a:prstGeom>
          <a:ln w="16510">
            <a:solidFill>
              <a:srgbClr val="4CC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31920" y="4315968"/>
            <a:ext cx="1417320" cy="841248"/>
          </a:xfrm>
          <a:prstGeom prst="line">
            <a:avLst/>
          </a:prstGeom>
          <a:ln w="16510">
            <a:solidFill>
              <a:srgbClr val="4CC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0" y="4315968"/>
            <a:ext cx="1371600" cy="841248"/>
          </a:xfrm>
          <a:prstGeom prst="line">
            <a:avLst/>
          </a:prstGeom>
          <a:ln w="16510">
            <a:solidFill>
              <a:srgbClr val="4CC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090464" y="2788920"/>
            <a:ext cx="2011680" cy="2011680"/>
          </a:xfrm>
          <a:prstGeom prst="ellipse">
            <a:avLst/>
          </a:prstGeom>
          <a:solidFill>
            <a:srgbClr val="182D48"/>
          </a:solidFill>
          <a:ln w="2540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36184" y="3227832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PostgreSQL 16.4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4CC6F1"/>
                </a:solidFill>
                <a:latin typeface="Inter"/>
              </a:rPr>
              <a:t>единый источник правды</a:t>
            </a:r>
          </a:p>
        </p:txBody>
      </p:sp>
      <p:sp>
        <p:nvSpPr>
          <p:cNvPr id="20" name="Oval 19"/>
          <p:cNvSpPr/>
          <p:nvPr/>
        </p:nvSpPr>
        <p:spPr>
          <a:xfrm>
            <a:off x="3858768" y="2377440"/>
            <a:ext cx="146304" cy="146304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1783080"/>
            <a:ext cx="30175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1" i="0">
                <a:solidFill>
                  <a:srgbClr val="FFFFFF"/>
                </a:solidFill>
                <a:latin typeface="Bahnschrift"/>
              </a:rPr>
              <a:t>Всё в БД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данные, коэффициенты и операторы живут в PostgreSQL, не в памяти</a:t>
            </a:r>
          </a:p>
        </p:txBody>
      </p:sp>
      <p:sp>
        <p:nvSpPr>
          <p:cNvPr id="22" name="Oval 21"/>
          <p:cNvSpPr/>
          <p:nvPr/>
        </p:nvSpPr>
        <p:spPr>
          <a:xfrm>
            <a:off x="8156448" y="2377440"/>
            <a:ext cx="146304" cy="146304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1783080"/>
            <a:ext cx="30175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1" i="0">
                <a:solidFill>
                  <a:srgbClr val="FFFFFF"/>
                </a:solidFill>
                <a:latin typeface="Bahnschrift"/>
              </a:rPr>
              <a:t>Перезапуск не страшен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настройки модели в singleton-таблице: вторая строка невозможна</a:t>
            </a:r>
          </a:p>
        </p:txBody>
      </p:sp>
      <p:sp>
        <p:nvSpPr>
          <p:cNvPr id="24" name="Oval 23"/>
          <p:cNvSpPr/>
          <p:nvPr/>
        </p:nvSpPr>
        <p:spPr>
          <a:xfrm>
            <a:off x="3858768" y="5084064"/>
            <a:ext cx="146304" cy="146304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30175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1" i="0">
                <a:solidFill>
                  <a:srgbClr val="FFFFFF"/>
                </a:solidFill>
                <a:latin typeface="Bahnschrift"/>
              </a:rPr>
              <a:t>Снимок меняется атомарно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«стереть и залить» одной транзакцией — без сирот</a:t>
            </a:r>
          </a:p>
        </p:txBody>
      </p:sp>
      <p:sp>
        <p:nvSpPr>
          <p:cNvPr id="26" name="Oval 25"/>
          <p:cNvSpPr/>
          <p:nvPr/>
        </p:nvSpPr>
        <p:spPr>
          <a:xfrm>
            <a:off x="8156448" y="5084064"/>
            <a:ext cx="146304" cy="146304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4846320"/>
            <a:ext cx="30175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1" i="0">
                <a:solidFill>
                  <a:srgbClr val="FFFFFF"/>
                </a:solidFill>
                <a:latin typeface="Bahnschrift"/>
              </a:rPr>
              <a:t>Целостность в самой БД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20 ограничений: суммы, даты, FK RESTRICT, уникальность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4206240"/>
            <a:ext cx="5669280" cy="566928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332720" y="4937760"/>
            <a:ext cx="3108960" cy="31089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109728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СТЕК ТЕХНОЛОГИЙ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Слои системы — от инфраструктуры к данным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5 / 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26767" y="1874519"/>
            <a:ext cx="8138160" cy="932688"/>
          </a:xfrm>
          <a:prstGeom prst="roundRect">
            <a:avLst>
              <a:gd name="adj" fmla="val 12000"/>
            </a:avLst>
          </a:prstGeom>
          <a:solidFill>
            <a:srgbClr val="0F1D2E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026767" y="1874519"/>
            <a:ext cx="82296" cy="932688"/>
          </a:xfrm>
          <a:prstGeom prst="rect">
            <a:avLst/>
          </a:prstGeom>
          <a:solidFill>
            <a:srgbClr val="E97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392527" y="1993391"/>
            <a:ext cx="74980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Инфраструктура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Docker Compose · /metrics Prometheus · Swagger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407" y="2971800"/>
            <a:ext cx="9326880" cy="932688"/>
          </a:xfrm>
          <a:prstGeom prst="roundRect">
            <a:avLst>
              <a:gd name="adj" fmla="val 12000"/>
            </a:avLst>
          </a:prstGeom>
          <a:solidFill>
            <a:srgbClr val="0F1D2E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432407" y="2971800"/>
            <a:ext cx="82296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98167" y="3090672"/>
            <a:ext cx="8686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Безопасность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bcrypt char(60) · сессии · rate-limit · RBAC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8047" y="4069080"/>
            <a:ext cx="10515600" cy="932688"/>
          </a:xfrm>
          <a:prstGeom prst="roundRect">
            <a:avLst>
              <a:gd name="adj" fmla="val 12000"/>
            </a:avLst>
          </a:prstGeom>
          <a:solidFill>
            <a:srgbClr val="0F1D2E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38047" y="4069080"/>
            <a:ext cx="82296" cy="93268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03807" y="4187952"/>
            <a:ext cx="98755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FastAPI · SQLAlchemy 2.0 · psycopg 3 · Alembic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687" y="5166360"/>
            <a:ext cx="11704320" cy="932688"/>
          </a:xfrm>
          <a:prstGeom prst="roundRect">
            <a:avLst>
              <a:gd name="adj" fmla="val 12000"/>
            </a:avLst>
          </a:prstGeom>
          <a:solidFill>
            <a:srgbClr val="0F1D2E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43687" y="5166360"/>
            <a:ext cx="82296" cy="932688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9447" y="5285232"/>
            <a:ext cx="1106424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База данных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PostgreSQL 16.4 · миграции · еврокопейки · UTC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9AB4C8"/>
                </a:solidFill>
                <a:latin typeface="Inter"/>
              </a:rPr>
              <a:t>Каждый слой опирается на нижний, а фундамент всего — схема данных.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72" y="49161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4023360"/>
            <a:ext cx="5669280" cy="566928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4754880"/>
            <a:ext cx="3108960" cy="31089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" y="1159026"/>
            <a:ext cx="1234440" cy="1234440"/>
          </a:xfrm>
          <a:prstGeom prst="ellipse">
            <a:avLst/>
          </a:prstGeom>
          <a:noFill/>
          <a:ln w="17780">
            <a:solidFill>
              <a:schemeClr val="accent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0875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7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31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06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44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0875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3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57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31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606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ФЛОУ ПРОГРАММЫ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Путь данных от входа до метрик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6 /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2788920"/>
            <a:ext cx="982980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972800" y="2788920"/>
            <a:ext cx="45720" cy="14173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188720" y="4206240"/>
            <a:ext cx="982980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289304" y="266090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362456" y="273405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0" y="1828800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Вход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auth/login</a:t>
            </a:r>
          </a:p>
        </p:txBody>
      </p:sp>
      <p:sp>
        <p:nvSpPr>
          <p:cNvPr id="38" name="Oval 37"/>
          <p:cNvSpPr/>
          <p:nvPr/>
        </p:nvSpPr>
        <p:spPr>
          <a:xfrm>
            <a:off x="4855464" y="266090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928616" y="273405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566160" y="1828800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Снапшот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PUT /source/snapshot</a:t>
            </a:r>
          </a:p>
        </p:txBody>
      </p:sp>
      <p:sp>
        <p:nvSpPr>
          <p:cNvPr id="41" name="Oval 40"/>
          <p:cNvSpPr/>
          <p:nvPr/>
        </p:nvSpPr>
        <p:spPr>
          <a:xfrm>
            <a:off x="8421624" y="266090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494776" y="273405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0" y="1828800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Скоринг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score по коэффициентам</a:t>
            </a:r>
          </a:p>
        </p:txBody>
      </p:sp>
      <p:sp>
        <p:nvSpPr>
          <p:cNvPr id="44" name="Oval 43"/>
          <p:cNvSpPr/>
          <p:nvPr/>
        </p:nvSpPr>
        <p:spPr>
          <a:xfrm>
            <a:off x="8421624" y="412394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494776" y="419709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132320" y="447141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Панель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топ клиентов, причины</a:t>
            </a:r>
          </a:p>
        </p:txBody>
      </p:sp>
      <p:sp>
        <p:nvSpPr>
          <p:cNvPr id="47" name="Oval 46"/>
          <p:cNvSpPr/>
          <p:nvPr/>
        </p:nvSpPr>
        <p:spPr>
          <a:xfrm>
            <a:off x="4855464" y="412394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928616" y="419709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66160" y="447141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Настройка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PATCH /model/settings</a:t>
            </a:r>
          </a:p>
        </p:txBody>
      </p:sp>
      <p:sp>
        <p:nvSpPr>
          <p:cNvPr id="50" name="Oval 49"/>
          <p:cNvSpPr/>
          <p:nvPr/>
        </p:nvSpPr>
        <p:spPr>
          <a:xfrm>
            <a:off x="1289304" y="4123944"/>
            <a:ext cx="256032" cy="256032"/>
          </a:xfrm>
          <a:prstGeom prst="ellipse">
            <a:avLst/>
          </a:prstGeom>
          <a:solidFill>
            <a:srgbClr val="000000"/>
          </a:solidFill>
          <a:ln w="2794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1362456" y="4197096"/>
            <a:ext cx="109728" cy="109728"/>
          </a:xfrm>
          <a:prstGeom prst="ellips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0" y="447141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Bahnschrift"/>
              </a:rPr>
              <a:t>Метрики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Consolas"/>
              </a:rPr>
              <a:t>GET /metrics</a:t>
            </a:r>
          </a:p>
        </p:txBody>
      </p:sp>
      <p:sp>
        <p:nvSpPr>
          <p:cNvPr id="53" name="Isosceles Triangle 52"/>
          <p:cNvSpPr/>
          <p:nvPr/>
        </p:nvSpPr>
        <p:spPr>
          <a:xfrm rot="10800000">
            <a:off x="11759184" y="4059936"/>
            <a:ext cx="292608" cy="292608"/>
          </a:xfrm>
          <a:prstGeom prst="triangl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Inter"/>
              </a:rPr>
              <a:t>Замкнутый цикл: </a:t>
            </a:r>
            <a:r>
              <a:rPr sz="1550" b="0" i="0">
                <a:solidFill>
                  <a:srgbClr val="D7E9F4"/>
                </a:solidFill>
                <a:latin typeface="Inter"/>
              </a:rPr>
              <a:t>изменение коэффициентов или данных пересчитывает панель автоматически, без reload.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92640" y="2194560"/>
            <a:ext cx="4206240" cy="42062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98480" y="493776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ФИЧИ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Обязательные возможности кейса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7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87451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189280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Score и причины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клиент, уровень риска и понятное объяснение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280720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971800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2990088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Топ клиентов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сортировки в обе стороны по всем полям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904488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406907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8760" y="408736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Живое обновление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пересчёт без перезагрузки страницы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0176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16635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8760" y="518464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Денежная оценка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потери по услугам, балансам и риску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609904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63640" y="187451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189280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/metrics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агрегированные показатели для Prometheus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80720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3640" y="2971800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0" y="2990088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Расширяемость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новый признак — минимальной правкой кода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904488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63640" y="406907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408736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Аутентификация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вход защищает панель и API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500176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63640" y="5166359"/>
            <a:ext cx="868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4CC6F1"/>
                </a:solidFill>
                <a:latin typeface="Bahnschrift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5184647"/>
            <a:ext cx="4480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Docker Compose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9AB4C8"/>
                </a:solidFill>
                <a:latin typeface="Inter"/>
              </a:rPr>
              <a:t>запуск решения одной командой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6099047"/>
            <a:ext cx="525780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2011680"/>
            <a:ext cx="4206240" cy="42062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40080" y="48463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БАЗА ДАННЫХ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Слой данных в числах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8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75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846320" y="3977639"/>
            <a:ext cx="6766560" cy="12801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2011680"/>
            <a:ext cx="39319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 i="0">
                <a:solidFill>
                  <a:srgbClr val="4CC6F1"/>
                </a:solidFill>
                <a:latin typeface="Bahnschrift"/>
              </a:rPr>
              <a:t>14/14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550" b="0" i="0">
                <a:solidFill>
                  <a:srgbClr val="FFFFFF"/>
                </a:solidFill>
                <a:latin typeface="Inter"/>
              </a:rPr>
              <a:t>негативных тестов: каждое нарушение отклонено верной ошибкой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Плюс: 5 таблиц в схеме · PostgreSQL 16.4 · живой стенд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20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ограничений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CHECK · FK RESTRICT · UNIQUE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12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индексов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построены от запросов панели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сирот после снапшота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перезаливка среза 10/30/100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EUR 1=100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еврокопейки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одна денежная единица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4206240"/>
            <a:ext cx="5669280" cy="566928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332720" y="4937760"/>
            <a:ext cx="3108960" cy="31089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109728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КРИТЕРИИ ПРИЁМКИ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Каждый пункт ТЗ закрыт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9 / 13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" y="1920240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196596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Коэффициенты переживают перезапуск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singleton modelSettings, CHECK id =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80160" y="2523744"/>
            <a:ext cx="1024128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94360" y="2633472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267919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Замена среза данных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PUT /source/snapshot — атомарно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3236976"/>
            <a:ext cx="1024128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94360" y="3346704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392424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Деньги в еврокопейках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EUR 1 = 100, CHECK &gt;= 0 на балансах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80160" y="3950208"/>
            <a:ext cx="1024128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94360" y="4059935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105655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Аутентификация панели и API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bcrypt char(60) · сессии · RBAC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80160" y="4663439"/>
            <a:ext cx="1024128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94360" y="4773168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81888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Swagger и OpenAPI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/api/v1/docs + openapi.yaml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80160" y="5376672"/>
            <a:ext cx="10241280" cy="10972"/>
          </a:xfrm>
          <a:prstGeom prst="rect">
            <a:avLst/>
          </a:prstGeom>
          <a:solidFill>
            <a:srgbClr val="1C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94360" y="5486400"/>
            <a:ext cx="457200" cy="457200"/>
          </a:xfrm>
          <a:prstGeom prst="ellipse">
            <a:avLst/>
          </a:prstGeom>
          <a:solidFill>
            <a:srgbClr val="182D48"/>
          </a:solidFill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4CC6F1"/>
                </a:solidFill>
                <a:latin typeface="Inter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553212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Bahnschrift"/>
              </a:rPr>
              <a:t>Docker Compose и /metrics</a:t>
            </a:r>
            <a:r>
              <a:rPr sz="1350" b="0" i="0">
                <a:solidFill>
                  <a:srgbClr val="9AB4C8"/>
                </a:solidFill>
                <a:latin typeface="Consolas"/>
              </a:rPr>
              <a:t>    запуск по README · Prometheus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val 34"/>
          <p:cNvSpPr/>
          <p:nvPr/>
        </p:nvSpPr>
        <p:spPr>
          <a:xfrm>
            <a:off x="2084831" y="3529584"/>
            <a:ext cx="219456" cy="219456"/>
          </a:xfrm>
          <a:prstGeom prst="ellipse">
            <a:avLst/>
          </a:prstGeom>
          <a:solidFill>
            <a:srgbClr val="E97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4023360"/>
            <a:ext cx="5669280" cy="566928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4754880"/>
            <a:ext cx="3108960" cy="31089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" y="11887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0875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7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31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06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44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0875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3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57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31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606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ЧТО ДАЛЬШЕ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Роадмап поверх готовой схемы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10 /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611880"/>
            <a:ext cx="10332720" cy="457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11228832" y="3493008"/>
            <a:ext cx="274320" cy="274320"/>
          </a:xfrm>
          <a:prstGeom prst="triangle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417319" y="3401568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 dirty="0" err="1">
                <a:solidFill>
                  <a:srgbClr val="E97C35"/>
                </a:solidFill>
                <a:latin typeface="Inter"/>
              </a:rPr>
              <a:t>Идея</a:t>
            </a:r>
            <a:r>
              <a:rPr sz="1350" b="1" i="0" dirty="0">
                <a:solidFill>
                  <a:srgbClr val="E97C35"/>
                </a:solidFill>
                <a:latin typeface="Inter"/>
              </a:rPr>
              <a:t>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233172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Bahnschrift"/>
              </a:rPr>
              <a:t>Миграция 004_backend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79" y="406908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sessions, login_attempts, source_state — под бэкенд</a:t>
            </a:r>
          </a:p>
        </p:txBody>
      </p:sp>
      <p:sp>
        <p:nvSpPr>
          <p:cNvPr id="39" name="Oval 38"/>
          <p:cNvSpPr/>
          <p:nvPr/>
        </p:nvSpPr>
        <p:spPr>
          <a:xfrm>
            <a:off x="5833872" y="3529584"/>
            <a:ext cx="219456" cy="219456"/>
          </a:xfrm>
          <a:prstGeom prst="ellipse">
            <a:avLst/>
          </a:prstGeom>
          <a:solidFill>
            <a:srgbClr val="E97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60520" y="233172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 dirty="0">
                <a:solidFill>
                  <a:srgbClr val="FFFFFF"/>
                </a:solidFill>
                <a:latin typeface="Bahnschrift"/>
              </a:rPr>
              <a:t>OIDC-</a:t>
            </a:r>
            <a:r>
              <a:rPr sz="1800" b="1" i="0" dirty="0" err="1">
                <a:solidFill>
                  <a:srgbClr val="FFFFFF"/>
                </a:solidFill>
                <a:latin typeface="Bahnschrift"/>
              </a:rPr>
              <a:t>аутентификация</a:t>
            </a:r>
            <a:endParaRPr sz="1800" b="1" i="0" dirty="0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160520" y="406908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дополнительный вход: доп. баллы по критериям</a:t>
            </a:r>
          </a:p>
        </p:txBody>
      </p:sp>
      <p:sp>
        <p:nvSpPr>
          <p:cNvPr id="43" name="Oval 42"/>
          <p:cNvSpPr/>
          <p:nvPr/>
        </p:nvSpPr>
        <p:spPr>
          <a:xfrm>
            <a:off x="9582912" y="3529584"/>
            <a:ext cx="219456" cy="219456"/>
          </a:xfrm>
          <a:prstGeom prst="ellipse">
            <a:avLst/>
          </a:prstGeom>
          <a:solidFill>
            <a:srgbClr val="E97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09560" y="233172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Bahnschrift"/>
              </a:rPr>
              <a:t>График оттока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06908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непродления: факт и прогноз различимы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66360" y="3401568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97C35"/>
                </a:solidFill>
                <a:latin typeface="Inter"/>
              </a:rPr>
              <a:t>Идея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15400" y="3401568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24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97C35"/>
                </a:solidFill>
                <a:latin typeface="Inter"/>
              </a:rPr>
              <a:t>Идея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61120" y="-2194560"/>
            <a:ext cx="5852160" cy="5852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424160" y="-1097280"/>
            <a:ext cx="3566160" cy="356616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30175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0875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7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31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06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44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0875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3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57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31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606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966960" y="54864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66960" y="66751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966960" y="78638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137392" y="27432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137392" y="27432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77240" y="73152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Bahnschrift"/>
              </a:rPr>
              <a:t>é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0" y="1234440"/>
            <a:ext cx="3200400" cy="3200400"/>
          </a:xfrm>
          <a:prstGeom prst="ellipse">
            <a:avLst/>
          </a:prstGeom>
          <a:noFill/>
          <a:ln w="1905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286000"/>
            <a:ext cx="65836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4800" b="1" i="0">
                <a:solidFill>
                  <a:srgbClr val="FFFFFF"/>
                </a:solidFill>
                <a:latin typeface="Bahnschrift"/>
              </a:rPr>
              <a:t>Программисты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0" i="0">
                <a:solidFill>
                  <a:srgbClr val="D7E9F4"/>
                </a:solidFill>
                <a:latin typeface="Inter"/>
              </a:rPr>
              <a:t>слой данных, который переживает всё:
перезапуск, заливку нового среза и 14 попыток его сломать.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4CC6F1"/>
                </a:solidFill>
                <a:latin typeface="Bahnschrift"/>
              </a:rPr>
              <a:t>надёжно · просто · быстро — спасибо!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212848"/>
            <a:ext cx="2871216" cy="2871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qr_aeza_v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2340864"/>
            <a:ext cx="2615184" cy="2615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15200" y="525780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CC6F1"/>
                </a:solidFill>
                <a:latin typeface="Consolas"/>
              </a:rPr>
              <a:t>Сканируйте QR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B4C8"/>
                </a:solidFill>
                <a:latin typeface="Inter"/>
              </a:rPr>
              <a:t>код · схема · миграции · документация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2011680"/>
            <a:ext cx="4206240" cy="42062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40080" y="48463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СЦЕНАРИЙ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Находим клиента под риском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12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75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846320" y="3977639"/>
            <a:ext cx="6766560" cy="12801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2011680"/>
            <a:ext cx="39319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 i="0">
                <a:solidFill>
                  <a:srgbClr val="4CC6F1"/>
                </a:solidFill>
                <a:latin typeface="Bahnschrift"/>
              </a:rPr>
              <a:t>HIGH 82/100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550" b="0" i="0">
                <a:solidFill>
                  <a:srgbClr val="FFFFFF"/>
                </a:solidFill>
                <a:latin typeface="Inter"/>
              </a:rPr>
              <a:t>ООО «Вектор» · клиент 1842 · риск оттока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Экспозиция: €59,70/мес · 3 услуги · 3 дня до продления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€59,70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выручка под риском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3 услуги × €19,90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€4,80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баланс клиента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не хватает €15,10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3 дня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до продления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автопродление выключено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причины риска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срок · баланс · автопродление</a:t>
            </a:r>
          </a:p>
        </p:txBody>
      </p:sp>
      <p:pic>
        <p:nvPicPr>
          <p:cNvPr id="1200" name="AEZA mascot" descr="tan_X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548640"/>
            <a:ext cx="822960" cy="1695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94560" y="2011680"/>
            <a:ext cx="4206240" cy="4206240"/>
          </a:xfrm>
          <a:prstGeom prst="ellipse">
            <a:avLst/>
          </a:prstGeom>
          <a:solidFill>
            <a:srgbClr val="0E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40080" y="4846320"/>
            <a:ext cx="1234440" cy="1234440"/>
          </a:xfrm>
          <a:prstGeom prst="ellipse">
            <a:avLst/>
          </a:prstGeom>
          <a:noFill/>
          <a:ln w="17780">
            <a:solidFill>
              <a:srgbClr val="4CC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78408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33271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0704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8136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155679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430000" y="571500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5097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78408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33271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0704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8136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55679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430000" y="5989320"/>
            <a:ext cx="41148" cy="41148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149840" y="502920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49840" y="621792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49840" y="740664"/>
            <a:ext cx="1417320" cy="25603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320272" y="228600"/>
            <a:ext cx="25603" cy="105156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320272" y="228600"/>
            <a:ext cx="1252728" cy="25603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389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4CC6F1"/>
                </a:solidFill>
                <a:latin typeface="Inter"/>
              </a:rPr>
              <a:t>СЦЕНАРИЙ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768096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Bahnschrift"/>
              </a:rPr>
              <a:t>Меняем данные — панель обновляется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1499616"/>
            <a:ext cx="1005840" cy="4572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B4C8"/>
                </a:solidFill>
                <a:latin typeface="Inter"/>
              </a:rPr>
              <a:t>Aéza · Анализатор рисков оттока · команда «Программисты»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AB4C8"/>
                </a:solidFill>
                <a:latin typeface="Inter"/>
              </a:rPr>
              <a:t>13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75320" y="1828800"/>
            <a:ext cx="12801" cy="4160520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846320" y="3977639"/>
            <a:ext cx="6766560" cy="12801"/>
          </a:xfrm>
          <a:prstGeom prst="rect">
            <a:avLst/>
          </a:prstGeom>
          <a:solidFill>
            <a:srgbClr val="2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2011680"/>
            <a:ext cx="39319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 i="0">
                <a:solidFill>
                  <a:srgbClr val="4CC6F1"/>
                </a:solidFill>
                <a:latin typeface="Bahnschrift"/>
              </a:rPr>
              <a:t>82 → 23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550" b="0" i="0">
                <a:solidFill>
                  <a:srgbClr val="FFFFFF"/>
                </a:solidFill>
                <a:latin typeface="Inter"/>
              </a:rPr>
              <a:t>auto_renew: false → true · balance: €4,80 → €25,00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B4C8"/>
                </a:solidFill>
                <a:latin typeface="Inter"/>
              </a:rPr>
              <a:t>PUT /source/snapshot · пересчёт без reload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€48,95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ожидаемая потеря до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0,82 × €59,70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192024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€13,73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ожидаемая потеря после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0,23 × €59,70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HIGH → LOW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уровень риска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результат обновился автоматически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114800"/>
            <a:ext cx="30175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Bahnschrift"/>
              </a:rPr>
              <a:t>1 шаг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C6F1"/>
                </a:solidFill>
                <a:latin typeface="Inter"/>
              </a:rPr>
              <a:t>обновление данных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AB4C8"/>
                </a:solidFill>
                <a:latin typeface="Inter"/>
              </a:rPr>
              <a:t>новый snapshot в PostgreSQL</a:t>
            </a:r>
          </a:p>
        </p:txBody>
      </p:sp>
      <p:pic>
        <p:nvPicPr>
          <p:cNvPr id="1201" name="AEZA mascot" descr="tan_X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548640"/>
            <a:ext cx="822960" cy="1695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761</Words>
  <Application>Microsoft Office PowerPoint</Application>
  <PresentationFormat>Широкоэкранный</PresentationFormat>
  <Paragraphs>168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Bahnschrift</vt:lpstr>
      <vt:lpstr>Calibri</vt:lpstr>
      <vt:lpstr>Consolas</vt:lpstr>
      <vt:lpstr>Inter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annabelenowskaa@gmail.com</cp:lastModifiedBy>
  <cp:revision>3</cp:revision>
  <dcterms:created xsi:type="dcterms:W3CDTF">2013-01-27T09:14:16Z</dcterms:created>
  <dcterms:modified xsi:type="dcterms:W3CDTF">2026-10-24T21:34:31Z</dcterms:modified>
  <cp:category/>
</cp:coreProperties>
</file>