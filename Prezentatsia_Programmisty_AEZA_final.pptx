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7"/>
    <p:sldId id="268" r:id="rId18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01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  <Relationship Id="rId17" Type="http://schemas.openxmlformats.org/officeDocument/2006/relationships/slide" Target="slides/slide12.xml"/>
  <Relationship Id="rId18" Type="http://schemas.openxmlformats.org/officeDocument/2006/relationships/slide" Target="slides/slide13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961120" y="-2194560"/>
            <a:ext cx="5852160" cy="585216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566160" cy="356616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881360" y="3017520"/>
            <a:ext cx="1234440" cy="1234440"/>
          </a:xfrm>
          <a:prstGeom prst="ellipse">
            <a:avLst/>
          </a:prstGeom>
          <a:noFill/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3444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50875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78308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574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33171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60604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58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012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3444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50875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78308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574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33171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60604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949440" y="502920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949440" y="621792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949440" y="740664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19872" y="228600"/>
            <a:ext cx="25603" cy="105156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19872" y="228600"/>
            <a:ext cx="1252728" cy="25603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869680" y="960120"/>
            <a:ext cx="2834640" cy="2834640"/>
          </a:xfrm>
          <a:prstGeom prst="ellipse">
            <a:avLst/>
          </a:prstGeom>
          <a:noFill/>
          <a:ln w="2032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tan_X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463040"/>
            <a:ext cx="2574983" cy="530352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720840" y="5870448"/>
            <a:ext cx="2240280" cy="502920"/>
          </a:xfrm>
          <a:prstGeom prst="roundRect">
            <a:avLst>
              <a:gd name="adj" fmla="val 50000"/>
            </a:avLst>
          </a:prstGeom>
          <a:solidFill>
            <a:srgbClr val="182D48"/>
          </a:solidFill>
          <a:ln w="12700">
            <a:solidFill>
              <a:srgbClr val="24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4CC6F1"/>
                </a:solidFill>
                <a:latin typeface="Inter"/>
              </a:rPr>
              <a:t>Aéza-тян · маскот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685800"/>
            <a:ext cx="960120" cy="960120"/>
          </a:xfrm>
          <a:prstGeom prst="roundRect">
            <a:avLst>
              <a:gd name="adj" fmla="val 22000"/>
            </a:avLst>
          </a:prstGeom>
          <a:solidFill>
            <a:srgbClr val="18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Bahnschrift"/>
              </a:rPr>
              <a:t>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82296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Bahnschrift"/>
              </a:rPr>
              <a:t>Aéza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4CC6F1"/>
                </a:solidFill>
                <a:latin typeface="Inter"/>
              </a:rPr>
              <a:t>хакатон РНД · уровень MIDDLE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2331720"/>
            <a:ext cx="82296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Bahnschrift"/>
              </a:rPr>
              <a:t>Анализатор рисков оттока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 i="0">
                <a:solidFill>
                  <a:srgbClr val="4CC6F1"/>
                </a:solidFill>
                <a:latin typeface="Bahnschrift"/>
              </a:rPr>
              <a:t>слой данных на PostgreSQL 16.4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8" y="4480560"/>
            <a:ext cx="2743200" cy="32004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4754880"/>
            <a:ext cx="8138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hnschrift"/>
              </a:rPr>
              <a:t>Команда «Программисты» · 5 человек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9AB4C8"/>
                </a:solidFill>
                <a:latin typeface="Inter"/>
              </a:rPr>
              <a:t>FastAPI · SQLAlchemy 2 · psycopg 3 · Alembic · Docker Compose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377440" y="-2194560"/>
            <a:ext cx="5852160" cy="585216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-914400"/>
            <a:ext cx="3291840" cy="329184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841891" y="60473"/>
            <a:ext cx="1005447" cy="996696"/>
          </a:xfrm>
          <a:prstGeom prst="ellipse">
            <a:avLst/>
          </a:prstGeom>
          <a:noFill/>
          <a:ln w="17780">
            <a:solidFill>
              <a:schemeClr val="accent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78408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1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60704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88136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15567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4300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0976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8408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33271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60704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88136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15567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4300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149840" y="502920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149840" y="621792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149840" y="740664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320272" y="228600"/>
            <a:ext cx="25603" cy="105156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320272" y="228600"/>
            <a:ext cx="1252728" cy="25603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438912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4CC6F1"/>
                </a:solidFill>
                <a:latin typeface="Inter"/>
              </a:rPr>
              <a:t>КОМАНДА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768096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Bahnschrift"/>
              </a:rPr>
              <a:t>«Программисты» — пять человек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" y="1499616"/>
            <a:ext cx="1005840" cy="4572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AB4C8"/>
                </a:solidFill>
                <a:latin typeface="Inter"/>
              </a:rPr>
              <a:t>Aéza · Анализатор рисков оттока · команда «Программисты»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9AB4C8"/>
                </a:solidFill>
                <a:latin typeface="Inter"/>
              </a:rPr>
              <a:t>2 / 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2633472"/>
            <a:ext cx="10241280" cy="32004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37973" y="2192274"/>
            <a:ext cx="916228" cy="914400"/>
          </a:xfrm>
          <a:prstGeom prst="ellipse">
            <a:avLst/>
          </a:prstGeom>
          <a:solidFill>
            <a:srgbClr val="182D48"/>
          </a:solidFill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492300" y="2379268"/>
            <a:ext cx="197510" cy="19751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364742" y="2626156"/>
            <a:ext cx="452628" cy="3621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348282" y="2807208"/>
            <a:ext cx="485546" cy="197510"/>
          </a:xfrm>
          <a:prstGeom prst="rect">
            <a:avLst/>
          </a:prstGeom>
          <a:solidFill>
            <a:srgbClr val="18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5216" y="3310128"/>
            <a:ext cx="20116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Bahnschrift"/>
              </a:rPr>
              <a:t>Кирилл</a:t>
            </a:r>
          </a:p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4CC6F1"/>
                </a:solidFill>
                <a:latin typeface="Inter"/>
              </a:rPr>
              <a:t>Тимлид + Backend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9AB4C8"/>
                </a:solidFill>
                <a:latin typeface="Inter"/>
              </a:rPr>
              <a:t>архитектура, риск-модель, интеграция</a:t>
            </a:r>
          </a:p>
        </p:txBody>
      </p:sp>
      <p:sp>
        <p:nvSpPr>
          <p:cNvPr id="38" name="Oval 37"/>
          <p:cNvSpPr/>
          <p:nvPr/>
        </p:nvSpPr>
        <p:spPr>
          <a:xfrm>
            <a:off x="3389224" y="2168956"/>
            <a:ext cx="916228" cy="914400"/>
          </a:xfrm>
          <a:prstGeom prst="ellipse">
            <a:avLst/>
          </a:prstGeom>
          <a:solidFill>
            <a:srgbClr val="182D48"/>
          </a:solidFill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760012" y="2379268"/>
            <a:ext cx="197510" cy="19751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632454" y="2626156"/>
            <a:ext cx="452628" cy="3621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615994" y="2807208"/>
            <a:ext cx="485546" cy="197510"/>
          </a:xfrm>
          <a:prstGeom prst="rect">
            <a:avLst/>
          </a:prstGeom>
          <a:solidFill>
            <a:srgbClr val="18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52928" y="3310128"/>
            <a:ext cx="20116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Bahnschrift"/>
              </a:rPr>
              <a:t>Аглая</a:t>
            </a:r>
          </a:p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4CC6F1"/>
                </a:solidFill>
                <a:latin typeface="Inter"/>
              </a:rPr>
              <a:t>Backend + БД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9AB4C8"/>
                </a:solidFill>
                <a:latin typeface="Inter"/>
              </a:rPr>
              <a:t>API, серверная логика, схема БД</a:t>
            </a:r>
          </a:p>
        </p:txBody>
      </p:sp>
      <p:sp>
        <p:nvSpPr>
          <p:cNvPr id="43" name="Oval 42"/>
          <p:cNvSpPr/>
          <p:nvPr/>
        </p:nvSpPr>
        <p:spPr>
          <a:xfrm>
            <a:off x="5668365" y="2208276"/>
            <a:ext cx="916228" cy="914400"/>
          </a:xfrm>
          <a:prstGeom prst="ellipse">
            <a:avLst/>
          </a:prstGeom>
          <a:solidFill>
            <a:srgbClr val="182D48"/>
          </a:solidFill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027724" y="2379268"/>
            <a:ext cx="197510" cy="19751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900166" y="2626156"/>
            <a:ext cx="452628" cy="3621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883706" y="2807208"/>
            <a:ext cx="485546" cy="197510"/>
          </a:xfrm>
          <a:prstGeom prst="rect">
            <a:avLst/>
          </a:prstGeom>
          <a:solidFill>
            <a:srgbClr val="18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120640" y="3310128"/>
            <a:ext cx="20116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Bahnschrift"/>
              </a:rPr>
              <a:t>Анна</a:t>
            </a:r>
          </a:p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4CC6F1"/>
                </a:solidFill>
                <a:latin typeface="Inter"/>
              </a:rPr>
              <a:t>База данных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9AB4C8"/>
                </a:solidFill>
                <a:latin typeface="Inter"/>
              </a:rPr>
              <a:t>нормализация, миграции, тесты БД</a:t>
            </a:r>
          </a:p>
        </p:txBody>
      </p:sp>
      <p:sp>
        <p:nvSpPr>
          <p:cNvPr id="48" name="Oval 47"/>
          <p:cNvSpPr/>
          <p:nvPr/>
        </p:nvSpPr>
        <p:spPr>
          <a:xfrm>
            <a:off x="7936076" y="2208276"/>
            <a:ext cx="916228" cy="914400"/>
          </a:xfrm>
          <a:prstGeom prst="ellipse">
            <a:avLst/>
          </a:prstGeom>
          <a:solidFill>
            <a:srgbClr val="182D48"/>
          </a:solidFill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295435" y="2379268"/>
            <a:ext cx="197510" cy="19751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167877" y="2626156"/>
            <a:ext cx="452628" cy="3621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151417" y="2807208"/>
            <a:ext cx="485546" cy="197510"/>
          </a:xfrm>
          <a:prstGeom prst="rect">
            <a:avLst/>
          </a:prstGeom>
          <a:solidFill>
            <a:srgbClr val="18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88351" y="3310128"/>
            <a:ext cx="2011680" cy="106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 i="0" dirty="0" err="1">
                <a:solidFill>
                  <a:srgbClr val="FFFFFF"/>
                </a:solidFill>
                <a:latin typeface="Bahnschrift"/>
              </a:rPr>
              <a:t>Арина</a:t>
            </a:r>
            <a:endParaRPr sz="1900" b="1" i="0" dirty="0">
              <a:solidFill>
                <a:srgbClr val="FFFFFF"/>
              </a:solidFill>
              <a:latin typeface="Bahnschrift"/>
            </a:endParaRPr>
          </a:p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lang="en-US" sz="1350" b="1" i="0" dirty="0">
                <a:solidFill>
                  <a:srgbClr val="4CC6F1"/>
                </a:solidFill>
                <a:latin typeface="Inter"/>
              </a:rPr>
              <a:t>Math</a:t>
            </a:r>
            <a:endParaRPr sz="1350" b="1" i="0" dirty="0">
              <a:solidFill>
                <a:srgbClr val="4CC6F1"/>
              </a:solidFill>
              <a:latin typeface="Inter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0" i="0" dirty="0" err="1">
                <a:solidFill>
                  <a:srgbClr val="9AB4C8"/>
                </a:solidFill>
                <a:latin typeface="Inter"/>
              </a:rPr>
              <a:t>панель</a:t>
            </a:r>
            <a:r>
              <a:rPr sz="1250" b="0" i="0" dirty="0">
                <a:solidFill>
                  <a:srgbClr val="9AB4C8"/>
                </a:solidFill>
                <a:latin typeface="Inter"/>
              </a:rPr>
              <a:t>, </a:t>
            </a:r>
            <a:r>
              <a:rPr sz="1250" b="0" i="0" dirty="0" err="1">
                <a:solidFill>
                  <a:srgbClr val="9AB4C8"/>
                </a:solidFill>
                <a:latin typeface="Inter"/>
              </a:rPr>
              <a:t>графики</a:t>
            </a:r>
            <a:r>
              <a:rPr sz="1250" b="0" i="0" dirty="0">
                <a:solidFill>
                  <a:srgbClr val="9AB4C8"/>
                </a:solidFill>
                <a:latin typeface="Inter"/>
              </a:rPr>
              <a:t>, </a:t>
            </a:r>
            <a:r>
              <a:rPr sz="1250" b="0" i="0" dirty="0" err="1">
                <a:solidFill>
                  <a:srgbClr val="9AB4C8"/>
                </a:solidFill>
                <a:latin typeface="Inter"/>
              </a:rPr>
              <a:t>живое</a:t>
            </a:r>
            <a:r>
              <a:rPr sz="1250" b="0" i="0" dirty="0">
                <a:solidFill>
                  <a:srgbClr val="9AB4C8"/>
                </a:solidFill>
                <a:latin typeface="Inter"/>
              </a:rPr>
              <a:t> </a:t>
            </a:r>
            <a:r>
              <a:rPr sz="1250" b="0" i="0" dirty="0" err="1">
                <a:solidFill>
                  <a:srgbClr val="9AB4C8"/>
                </a:solidFill>
                <a:latin typeface="Inter"/>
              </a:rPr>
              <a:t>обновление</a:t>
            </a:r>
            <a:endParaRPr sz="1250" b="0" i="0" dirty="0">
              <a:solidFill>
                <a:srgbClr val="9AB4C8"/>
              </a:solidFill>
              <a:latin typeface="Inter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10151145" y="2192274"/>
            <a:ext cx="1004534" cy="953262"/>
          </a:xfrm>
          <a:prstGeom prst="ellipse">
            <a:avLst/>
          </a:prstGeom>
          <a:solidFill>
            <a:srgbClr val="182D48"/>
          </a:solidFill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0563148" y="2379268"/>
            <a:ext cx="197510" cy="19751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0435590" y="2626156"/>
            <a:ext cx="452628" cy="3621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419130" y="2807208"/>
            <a:ext cx="485546" cy="197510"/>
          </a:xfrm>
          <a:prstGeom prst="rect">
            <a:avLst/>
          </a:prstGeom>
          <a:solidFill>
            <a:srgbClr val="18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56064" y="3310128"/>
            <a:ext cx="20116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Bahnschrift"/>
              </a:rPr>
              <a:t>Катя</a:t>
            </a:r>
          </a:p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4CC6F1"/>
                </a:solidFill>
                <a:latin typeface="Inter"/>
              </a:rPr>
              <a:t>Frontend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9AB4C8"/>
                </a:solidFill>
                <a:latin typeface="Inter"/>
              </a:rPr>
              <a:t>интерфейс, UX, визуал данных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58521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D7E9F4"/>
                </a:solidFill>
                <a:latin typeface="Inter"/>
              </a:rPr>
              <a:t>Пять ролей, одна схема данных — </a:t>
            </a:r>
            <a:r>
              <a:rPr sz="1550" b="1" i="0">
                <a:solidFill>
                  <a:srgbClr val="D7E9F4"/>
                </a:solidFill>
                <a:latin typeface="Inter"/>
              </a:rPr>
              <a:t>фронт, бэкенд и БД говорят на языке одних и тех же таблиц.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961120" y="-2194560"/>
            <a:ext cx="5852160" cy="585216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566160" cy="356616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881360" y="3017520"/>
            <a:ext cx="1234440" cy="1234440"/>
          </a:xfrm>
          <a:prstGeom prst="ellipse">
            <a:avLst/>
          </a:prstGeom>
          <a:noFill/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3444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50875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78308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574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33171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60604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58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012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3444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50875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78308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574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33171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60604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149840" y="502920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149840" y="621792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149840" y="740664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320272" y="228600"/>
            <a:ext cx="25603" cy="105156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320272" y="228600"/>
            <a:ext cx="1252728" cy="25603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438912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4CC6F1"/>
                </a:solidFill>
                <a:latin typeface="Inter"/>
              </a:rPr>
              <a:t>ПРОБЛЕМА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768096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Bahnschrift"/>
              </a:rPr>
              <a:t>Отток виден заранее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" y="1499616"/>
            <a:ext cx="1005840" cy="4572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AB4C8"/>
                </a:solidFill>
                <a:latin typeface="Inter"/>
              </a:rPr>
              <a:t>Aéza · Анализатор рисков оттока · команда «Программисты»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9AB4C8"/>
                </a:solidFill>
                <a:latin typeface="Inter"/>
              </a:rPr>
              <a:t>3 / 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25296" y="2011680"/>
            <a:ext cx="36576" cy="329184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97280" y="2011680"/>
            <a:ext cx="292608" cy="292608"/>
          </a:xfrm>
          <a:prstGeom prst="ellipse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28800" y="1883664"/>
            <a:ext cx="1371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 i="0">
                <a:solidFill>
                  <a:srgbClr val="142A40"/>
                </a:solidFill>
                <a:latin typeface="Bahnschrift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1938528"/>
            <a:ext cx="84124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Bahnschrift"/>
              </a:rPr>
              <a:t>Истекает срок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9AB4C8"/>
                </a:solidFill>
                <a:latin typeface="Inter"/>
              </a:rPr>
              <a:t>услуга заканчивается, а автопродление выключено</a:t>
            </a:r>
          </a:p>
        </p:txBody>
      </p:sp>
      <p:sp>
        <p:nvSpPr>
          <p:cNvPr id="36" name="Oval 35"/>
          <p:cNvSpPr/>
          <p:nvPr/>
        </p:nvSpPr>
        <p:spPr>
          <a:xfrm>
            <a:off x="1097280" y="3218688"/>
            <a:ext cx="292608" cy="292608"/>
          </a:xfrm>
          <a:prstGeom prst="ellipse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828800" y="3090672"/>
            <a:ext cx="1371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 i="0">
                <a:solidFill>
                  <a:srgbClr val="142A40"/>
                </a:solidFill>
                <a:latin typeface="Bahnschrift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3145536"/>
            <a:ext cx="84124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Bahnschrift"/>
              </a:rPr>
              <a:t>Не хватает денег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9AB4C8"/>
                </a:solidFill>
                <a:latin typeface="Inter"/>
              </a:rPr>
              <a:t>баланса не хватит на ближайшие продления</a:t>
            </a:r>
          </a:p>
        </p:txBody>
      </p:sp>
      <p:sp>
        <p:nvSpPr>
          <p:cNvPr id="39" name="Oval 38"/>
          <p:cNvSpPr/>
          <p:nvPr/>
        </p:nvSpPr>
        <p:spPr>
          <a:xfrm>
            <a:off x="1097280" y="4425696"/>
            <a:ext cx="292608" cy="292608"/>
          </a:xfrm>
          <a:prstGeom prst="ellipse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828800" y="4297680"/>
            <a:ext cx="1371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 i="0">
                <a:solidFill>
                  <a:srgbClr val="142A40"/>
                </a:solidFill>
                <a:latin typeface="Bahnschrift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4352544"/>
            <a:ext cx="84124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Bahnschrift"/>
              </a:rPr>
              <a:t>Ожидает оплаты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9AB4C8"/>
                </a:solidFill>
                <a:latin typeface="Inter"/>
              </a:rPr>
              <a:t>prolong_wait: 5 дней до удаления без оплаты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577840"/>
            <a:ext cx="11109960" cy="777240"/>
          </a:xfrm>
          <a:prstGeom prst="roundRect">
            <a:avLst>
              <a:gd name="adj" fmla="val 16000"/>
            </a:avLst>
          </a:prstGeom>
          <a:solidFill>
            <a:srgbClr val="182D48"/>
          </a:solidFill>
          <a:ln w="12700">
            <a:solidFill>
              <a:srgbClr val="24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Каждый случай — потерянная выручка, которую ещё можно спасти. </a:t>
            </a:r>
            <a:r>
              <a:rPr sz="1600" b="0" i="0">
                <a:solidFill>
                  <a:srgbClr val="4CC6F1"/>
                </a:solidFill>
                <a:latin typeface="Inter"/>
              </a:rPr>
              <a:t>БД связывает балансы, услуги и статусы в прогноз.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94560" y="2011680"/>
            <a:ext cx="4206240" cy="420624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149840" y="502920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149840" y="621792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149840" y="740664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320272" y="228600"/>
            <a:ext cx="25603" cy="105156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320272" y="228600"/>
            <a:ext cx="1252728" cy="25603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438912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4CC6F1"/>
                </a:solidFill>
                <a:latin typeface="Inter"/>
              </a:rPr>
              <a:t>НАШЕ 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Bahnschrift"/>
              </a:rPr>
              <a:t>База данных — единственный источник правды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" y="1499616"/>
            <a:ext cx="1005840" cy="4572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AB4C8"/>
                </a:solidFill>
                <a:latin typeface="Inter"/>
              </a:rPr>
              <a:t>Aéza · Анализатор рисков оттока · команда «Программисты»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9AB4C8"/>
                </a:solidFill>
                <a:latin typeface="Inter"/>
              </a:rPr>
              <a:t>4 / 13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3931920" y="2450592"/>
            <a:ext cx="1417320" cy="841248"/>
          </a:xfrm>
          <a:prstGeom prst="line">
            <a:avLst/>
          </a:prstGeom>
          <a:ln w="16510">
            <a:solidFill>
              <a:srgbClr val="4CC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858000" y="2450592"/>
            <a:ext cx="1371600" cy="841248"/>
          </a:xfrm>
          <a:prstGeom prst="line">
            <a:avLst/>
          </a:prstGeom>
          <a:ln w="16510">
            <a:solidFill>
              <a:srgbClr val="4CC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931920" y="4315968"/>
            <a:ext cx="1417320" cy="841248"/>
          </a:xfrm>
          <a:prstGeom prst="line">
            <a:avLst/>
          </a:prstGeom>
          <a:ln w="16510">
            <a:solidFill>
              <a:srgbClr val="4CC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4315968"/>
            <a:ext cx="1371600" cy="841248"/>
          </a:xfrm>
          <a:prstGeom prst="line">
            <a:avLst/>
          </a:prstGeom>
          <a:ln w="16510">
            <a:solidFill>
              <a:srgbClr val="4CC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090464" y="2788920"/>
            <a:ext cx="2011680" cy="2011680"/>
          </a:xfrm>
          <a:prstGeom prst="ellipse">
            <a:avLst/>
          </a:prstGeom>
          <a:solidFill>
            <a:srgbClr val="182D48"/>
          </a:solidFill>
          <a:ln w="2540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36184" y="3227832"/>
            <a:ext cx="19202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Bahnschrift"/>
              </a:rPr>
              <a:t>PostgreSQL 16.4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4CC6F1"/>
                </a:solidFill>
                <a:latin typeface="Inter"/>
              </a:rPr>
              <a:t>единый источник правды</a:t>
            </a:r>
          </a:p>
        </p:txBody>
      </p:sp>
      <p:sp>
        <p:nvSpPr>
          <p:cNvPr id="20" name="Oval 19"/>
          <p:cNvSpPr/>
          <p:nvPr/>
        </p:nvSpPr>
        <p:spPr>
          <a:xfrm>
            <a:off x="3858768" y="2377440"/>
            <a:ext cx="146304" cy="146304"/>
          </a:xfrm>
          <a:prstGeom prst="ellipse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1783080"/>
            <a:ext cx="30175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1" i="0">
                <a:solidFill>
                  <a:srgbClr val="FFFFFF"/>
                </a:solidFill>
                <a:latin typeface="Bahnschrift"/>
              </a:rPr>
              <a:t>Всё в БД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9AB4C8"/>
                </a:solidFill>
                <a:latin typeface="Inter"/>
              </a:rPr>
              <a:t>данные, коэффициенты и операторы живут в PostgreSQL, не в памяти</a:t>
            </a:r>
          </a:p>
        </p:txBody>
      </p:sp>
      <p:sp>
        <p:nvSpPr>
          <p:cNvPr id="22" name="Oval 21"/>
          <p:cNvSpPr/>
          <p:nvPr/>
        </p:nvSpPr>
        <p:spPr>
          <a:xfrm>
            <a:off x="8156448" y="2377440"/>
            <a:ext cx="146304" cy="146304"/>
          </a:xfrm>
          <a:prstGeom prst="ellipse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0" y="1783080"/>
            <a:ext cx="30175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1" i="0">
                <a:solidFill>
                  <a:srgbClr val="FFFFFF"/>
                </a:solidFill>
                <a:latin typeface="Bahnschrift"/>
              </a:rPr>
              <a:t>Перезапуск не страшен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9AB4C8"/>
                </a:solidFill>
                <a:latin typeface="Inter"/>
              </a:rPr>
              <a:t>настройки модели в singleton-таблице: вторая строка невозможна</a:t>
            </a:r>
          </a:p>
        </p:txBody>
      </p:sp>
      <p:sp>
        <p:nvSpPr>
          <p:cNvPr id="24" name="Oval 23"/>
          <p:cNvSpPr/>
          <p:nvPr/>
        </p:nvSpPr>
        <p:spPr>
          <a:xfrm>
            <a:off x="3858768" y="5084064"/>
            <a:ext cx="146304" cy="146304"/>
          </a:xfrm>
          <a:prstGeom prst="ellipse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30175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1" i="0">
                <a:solidFill>
                  <a:srgbClr val="FFFFFF"/>
                </a:solidFill>
                <a:latin typeface="Bahnschrift"/>
              </a:rPr>
              <a:t>Снимок меняется атомарно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9AB4C8"/>
                </a:solidFill>
                <a:latin typeface="Inter"/>
              </a:rPr>
              <a:t>«стереть и залить» одной транзакцией — без сирот</a:t>
            </a:r>
          </a:p>
        </p:txBody>
      </p:sp>
      <p:sp>
        <p:nvSpPr>
          <p:cNvPr id="26" name="Oval 25"/>
          <p:cNvSpPr/>
          <p:nvPr/>
        </p:nvSpPr>
        <p:spPr>
          <a:xfrm>
            <a:off x="8156448" y="5084064"/>
            <a:ext cx="146304" cy="146304"/>
          </a:xfrm>
          <a:prstGeom prst="ellipse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4846320"/>
            <a:ext cx="30175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1" i="0">
                <a:solidFill>
                  <a:srgbClr val="FFFFFF"/>
                </a:solidFill>
                <a:latin typeface="Bahnschrift"/>
              </a:rPr>
              <a:t>Целостность в самой БД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9AB4C8"/>
                </a:solidFill>
                <a:latin typeface="Inter"/>
              </a:rPr>
              <a:t>20 ограничений: суммы, даты, FK RESTRICT, уникальность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78240" y="4206240"/>
            <a:ext cx="5669280" cy="566928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4937760"/>
            <a:ext cx="3108960" cy="310896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1097280"/>
            <a:ext cx="1234440" cy="1234440"/>
          </a:xfrm>
          <a:prstGeom prst="ellipse">
            <a:avLst/>
          </a:prstGeom>
          <a:noFill/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78408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1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60704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88136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15567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4300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0976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8408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33271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60704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88136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15567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4300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149840" y="502920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149840" y="621792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149840" y="740664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320272" y="228600"/>
            <a:ext cx="25603" cy="105156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320272" y="228600"/>
            <a:ext cx="1252728" cy="25603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438912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4CC6F1"/>
                </a:solidFill>
                <a:latin typeface="Inter"/>
              </a:rPr>
              <a:t>СТЕК ТЕХНОЛОГИЙ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768096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Bahnschrift"/>
              </a:rPr>
              <a:t>Слои системы — от инфраструктуры к данным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" y="1499616"/>
            <a:ext cx="1005840" cy="4572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AB4C8"/>
                </a:solidFill>
                <a:latin typeface="Inter"/>
              </a:rPr>
              <a:t>Aéza · Анализатор рисков оттока · команда «Программисты»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9AB4C8"/>
                </a:solidFill>
                <a:latin typeface="Inter"/>
              </a:rPr>
              <a:t>5 / 13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26767" y="1874519"/>
            <a:ext cx="8138160" cy="932688"/>
          </a:xfrm>
          <a:prstGeom prst="roundRect">
            <a:avLst>
              <a:gd name="adj" fmla="val 12000"/>
            </a:avLst>
          </a:prstGeom>
          <a:solidFill>
            <a:srgbClr val="0F1D2E"/>
          </a:solidFill>
          <a:ln w="12700">
            <a:solidFill>
              <a:srgbClr val="24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026767" y="1874519"/>
            <a:ext cx="82296" cy="932688"/>
          </a:xfrm>
          <a:prstGeom prst="rect">
            <a:avLst/>
          </a:prstGeom>
          <a:solidFill>
            <a:srgbClr val="E97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92527" y="1993391"/>
            <a:ext cx="74980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50" b="1" i="0">
                <a:solidFill>
                  <a:srgbClr val="FFFFFF"/>
                </a:solidFill>
                <a:latin typeface="Bahnschrift"/>
              </a:rPr>
              <a:t>Инфраструктура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AB4C8"/>
                </a:solidFill>
                <a:latin typeface="Inter"/>
              </a:rPr>
              <a:t>Docker Compose · /metrics Prometheus · Swagger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32407" y="2971800"/>
            <a:ext cx="9326880" cy="932688"/>
          </a:xfrm>
          <a:prstGeom prst="roundRect">
            <a:avLst>
              <a:gd name="adj" fmla="val 12000"/>
            </a:avLst>
          </a:prstGeom>
          <a:solidFill>
            <a:srgbClr val="0F1D2E"/>
          </a:solidFill>
          <a:ln w="12700">
            <a:solidFill>
              <a:srgbClr val="24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432407" y="2971800"/>
            <a:ext cx="82296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798167" y="3090672"/>
            <a:ext cx="86868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50" b="1" i="0">
                <a:solidFill>
                  <a:srgbClr val="FFFFFF"/>
                </a:solidFill>
                <a:latin typeface="Bahnschrift"/>
              </a:rPr>
              <a:t>Безопасность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AB4C8"/>
                </a:solidFill>
                <a:latin typeface="Inter"/>
              </a:rPr>
              <a:t>bcrypt char(60) · сессии · rate-limit · RBAC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8047" y="4069080"/>
            <a:ext cx="10515600" cy="932688"/>
          </a:xfrm>
          <a:prstGeom prst="roundRect">
            <a:avLst>
              <a:gd name="adj" fmla="val 12000"/>
            </a:avLst>
          </a:prstGeom>
          <a:solidFill>
            <a:srgbClr val="0F1D2E"/>
          </a:solidFill>
          <a:ln w="12700">
            <a:solidFill>
              <a:srgbClr val="24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38047" y="4069080"/>
            <a:ext cx="82296" cy="932688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203807" y="4187952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50" b="1" i="0">
                <a:solidFill>
                  <a:srgbClr val="FFFFFF"/>
                </a:solidFill>
                <a:latin typeface="Bahnschrift"/>
              </a:rPr>
              <a:t>Backend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AB4C8"/>
                </a:solidFill>
                <a:latin typeface="Inter"/>
              </a:rPr>
              <a:t>FastAPI · SQLAlchemy 2.0 · psycopg 3 · Alembic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3687" y="5166360"/>
            <a:ext cx="11704320" cy="932688"/>
          </a:xfrm>
          <a:prstGeom prst="roundRect">
            <a:avLst>
              <a:gd name="adj" fmla="val 12000"/>
            </a:avLst>
          </a:prstGeom>
          <a:solidFill>
            <a:srgbClr val="0F1D2E"/>
          </a:solidFill>
          <a:ln w="12700">
            <a:solidFill>
              <a:srgbClr val="24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43687" y="5166360"/>
            <a:ext cx="82296" cy="932688"/>
          </a:xfrm>
          <a:prstGeom prst="rect">
            <a:avLst/>
          </a:prstGeom>
          <a:solidFill>
            <a:srgbClr val="18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09447" y="5285232"/>
            <a:ext cx="1106424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50" b="1" i="0">
                <a:solidFill>
                  <a:srgbClr val="FFFFFF"/>
                </a:solidFill>
                <a:latin typeface="Bahnschrift"/>
              </a:rPr>
              <a:t>База данных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AB4C8"/>
                </a:solidFill>
                <a:latin typeface="Inter"/>
              </a:rPr>
              <a:t>PostgreSQL 16.4 · миграции · еврокопейки · UTC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9AB4C8"/>
                </a:solidFill>
                <a:latin typeface="Inter"/>
              </a:rPr>
              <a:t>Каждый слой опирается на нижний, а фундамент всего — схема данных.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" y="49161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94560" y="4023360"/>
            <a:ext cx="5669280" cy="566928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4754880"/>
            <a:ext cx="3108960" cy="310896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" y="1159026"/>
            <a:ext cx="1234440" cy="1234440"/>
          </a:xfrm>
          <a:prstGeom prst="ellipse">
            <a:avLst/>
          </a:prstGeom>
          <a:noFill/>
          <a:ln w="17780">
            <a:solidFill>
              <a:schemeClr val="accent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3444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50875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78308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574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33171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60604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58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012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3444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50875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78308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574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33171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60604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149840" y="502920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149840" y="621792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149840" y="740664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320272" y="228600"/>
            <a:ext cx="25603" cy="105156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320272" y="228600"/>
            <a:ext cx="1252728" cy="25603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438912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4CC6F1"/>
                </a:solidFill>
                <a:latin typeface="Inter"/>
              </a:rPr>
              <a:t>ФЛОУ ПРОГРАММЫ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768096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Bahnschrift"/>
              </a:rPr>
              <a:t>Путь данных от входа до метрик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" y="1499616"/>
            <a:ext cx="1005840" cy="4572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AB4C8"/>
                </a:solidFill>
                <a:latin typeface="Inter"/>
              </a:rPr>
              <a:t>Aéza · Анализатор рисков оттока · команда «Программисты»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9AB4C8"/>
                </a:solidFill>
                <a:latin typeface="Inter"/>
              </a:rPr>
              <a:t>6 / 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720" y="2788920"/>
            <a:ext cx="9829800" cy="4572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972800" y="2788920"/>
            <a:ext cx="45720" cy="141732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188720" y="4206240"/>
            <a:ext cx="9829800" cy="4572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289304" y="2660904"/>
            <a:ext cx="256032" cy="256032"/>
          </a:xfrm>
          <a:prstGeom prst="ellipse">
            <a:avLst/>
          </a:prstGeom>
          <a:solidFill>
            <a:srgbClr val="000000"/>
          </a:solidFill>
          <a:ln w="2794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362456" y="2734056"/>
            <a:ext cx="109728" cy="109728"/>
          </a:xfrm>
          <a:prstGeom prst="ellipse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0" y="1828800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Bahnschrift"/>
              </a:rPr>
              <a:t>Вход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9AB4C8"/>
                </a:solidFill>
                <a:latin typeface="Consolas"/>
              </a:rPr>
              <a:t>auth/login</a:t>
            </a:r>
          </a:p>
        </p:txBody>
      </p:sp>
      <p:sp>
        <p:nvSpPr>
          <p:cNvPr id="38" name="Oval 37"/>
          <p:cNvSpPr/>
          <p:nvPr/>
        </p:nvSpPr>
        <p:spPr>
          <a:xfrm>
            <a:off x="4855464" y="2660904"/>
            <a:ext cx="256032" cy="256032"/>
          </a:xfrm>
          <a:prstGeom prst="ellipse">
            <a:avLst/>
          </a:prstGeom>
          <a:solidFill>
            <a:srgbClr val="000000"/>
          </a:solidFill>
          <a:ln w="2794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928616" y="2734056"/>
            <a:ext cx="109728" cy="109728"/>
          </a:xfrm>
          <a:prstGeom prst="ellipse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66160" y="1828800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Bahnschrift"/>
              </a:rPr>
              <a:t>Снапшот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9AB4C8"/>
                </a:solidFill>
                <a:latin typeface="Consolas"/>
              </a:rPr>
              <a:t>PUT /source/snapshot</a:t>
            </a:r>
          </a:p>
        </p:txBody>
      </p:sp>
      <p:sp>
        <p:nvSpPr>
          <p:cNvPr id="41" name="Oval 40"/>
          <p:cNvSpPr/>
          <p:nvPr/>
        </p:nvSpPr>
        <p:spPr>
          <a:xfrm>
            <a:off x="8421624" y="2660904"/>
            <a:ext cx="256032" cy="256032"/>
          </a:xfrm>
          <a:prstGeom prst="ellipse">
            <a:avLst/>
          </a:prstGeom>
          <a:solidFill>
            <a:srgbClr val="000000"/>
          </a:solidFill>
          <a:ln w="2794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494776" y="2734056"/>
            <a:ext cx="109728" cy="109728"/>
          </a:xfrm>
          <a:prstGeom prst="ellipse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32320" y="1828800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Bahnschrift"/>
              </a:rPr>
              <a:t>Скоринг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9AB4C8"/>
                </a:solidFill>
                <a:latin typeface="Consolas"/>
              </a:rPr>
              <a:t>score по коэффициентам</a:t>
            </a:r>
          </a:p>
        </p:txBody>
      </p:sp>
      <p:sp>
        <p:nvSpPr>
          <p:cNvPr id="44" name="Oval 43"/>
          <p:cNvSpPr/>
          <p:nvPr/>
        </p:nvSpPr>
        <p:spPr>
          <a:xfrm>
            <a:off x="8421624" y="4123944"/>
            <a:ext cx="256032" cy="256032"/>
          </a:xfrm>
          <a:prstGeom prst="ellipse">
            <a:avLst/>
          </a:prstGeom>
          <a:solidFill>
            <a:srgbClr val="000000"/>
          </a:solidFill>
          <a:ln w="2794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494776" y="4197096"/>
            <a:ext cx="109728" cy="109728"/>
          </a:xfrm>
          <a:prstGeom prst="ellipse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132320" y="447141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Bahnschrift"/>
              </a:rPr>
              <a:t>Панель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9AB4C8"/>
                </a:solidFill>
                <a:latin typeface="Consolas"/>
              </a:rPr>
              <a:t>топ клиентов, причины</a:t>
            </a:r>
          </a:p>
        </p:txBody>
      </p:sp>
      <p:sp>
        <p:nvSpPr>
          <p:cNvPr id="47" name="Oval 46"/>
          <p:cNvSpPr/>
          <p:nvPr/>
        </p:nvSpPr>
        <p:spPr>
          <a:xfrm>
            <a:off x="4855464" y="4123944"/>
            <a:ext cx="256032" cy="256032"/>
          </a:xfrm>
          <a:prstGeom prst="ellipse">
            <a:avLst/>
          </a:prstGeom>
          <a:solidFill>
            <a:srgbClr val="000000"/>
          </a:solidFill>
          <a:ln w="2794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928616" y="4197096"/>
            <a:ext cx="109728" cy="109728"/>
          </a:xfrm>
          <a:prstGeom prst="ellipse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566160" y="447141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Bahnschrift"/>
              </a:rPr>
              <a:t>Настройка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9AB4C8"/>
                </a:solidFill>
                <a:latin typeface="Consolas"/>
              </a:rPr>
              <a:t>PATCH /model/settings</a:t>
            </a:r>
          </a:p>
        </p:txBody>
      </p:sp>
      <p:sp>
        <p:nvSpPr>
          <p:cNvPr id="50" name="Oval 49"/>
          <p:cNvSpPr/>
          <p:nvPr/>
        </p:nvSpPr>
        <p:spPr>
          <a:xfrm>
            <a:off x="1289304" y="4123944"/>
            <a:ext cx="256032" cy="256032"/>
          </a:xfrm>
          <a:prstGeom prst="ellipse">
            <a:avLst/>
          </a:prstGeom>
          <a:solidFill>
            <a:srgbClr val="000000"/>
          </a:solidFill>
          <a:ln w="2794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362456" y="4197096"/>
            <a:ext cx="109728" cy="109728"/>
          </a:xfrm>
          <a:prstGeom prst="ellipse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0" y="447141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Bahnschrift"/>
              </a:rPr>
              <a:t>Метрики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9AB4C8"/>
                </a:solidFill>
                <a:latin typeface="Consolas"/>
              </a:rPr>
              <a:t>GET /metrics</a:t>
            </a:r>
          </a:p>
        </p:txBody>
      </p:sp>
      <p:sp>
        <p:nvSpPr>
          <p:cNvPr id="53" name="Isosceles Triangle 52"/>
          <p:cNvSpPr/>
          <p:nvPr/>
        </p:nvSpPr>
        <p:spPr>
          <a:xfrm rot="10800000">
            <a:off x="11759184" y="4059936"/>
            <a:ext cx="292608" cy="292608"/>
          </a:xfrm>
          <a:prstGeom prst="triangle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928" y="58064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Inter"/>
              </a:rPr>
              <a:t>Замкнутый цикл: </a:t>
            </a:r>
            <a:r>
              <a:rPr sz="1550" b="0" i="0">
                <a:solidFill>
                  <a:srgbClr val="D7E9F4"/>
                </a:solidFill>
                <a:latin typeface="Inter"/>
              </a:rPr>
              <a:t>изменение коэффициентов или данных пересчитывает панель автоматически, без reload.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2194560"/>
            <a:ext cx="4206240" cy="420624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4937760"/>
            <a:ext cx="1234440" cy="1234440"/>
          </a:xfrm>
          <a:prstGeom prst="ellipse">
            <a:avLst/>
          </a:prstGeom>
          <a:noFill/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8408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33271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60704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88136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5567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4300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50976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78408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584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33271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0704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88136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15567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4300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149840" y="502920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149840" y="621792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149840" y="740664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320272" y="228600"/>
            <a:ext cx="25603" cy="105156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320272" y="228600"/>
            <a:ext cx="1252728" cy="25603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438912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4CC6F1"/>
                </a:solidFill>
                <a:latin typeface="Inter"/>
              </a:rPr>
              <a:t>ФИЧИ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768096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Bahnschrift"/>
              </a:rPr>
              <a:t>Обязательные возможности кейса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" y="1499616"/>
            <a:ext cx="1005840" cy="4572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AB4C8"/>
                </a:solidFill>
                <a:latin typeface="Inter"/>
              </a:rPr>
              <a:t>Aéza · Анализатор рисков оттока · команда «Программисты»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9AB4C8"/>
                </a:solidFill>
                <a:latin typeface="Inter"/>
              </a:rPr>
              <a:t>7 /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1874519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4CC6F1"/>
                </a:solidFill>
                <a:latin typeface="Bahnschrift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1892807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50" b="1" i="0">
                <a:solidFill>
                  <a:srgbClr val="FFFFFF"/>
                </a:solidFill>
                <a:latin typeface="Bahnschrift"/>
              </a:rPr>
              <a:t>Score и причины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AB4C8"/>
                </a:solidFill>
                <a:latin typeface="Inter"/>
              </a:rPr>
              <a:t>клиент, уровень риска и понятное объяснение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2807207"/>
            <a:ext cx="5257800" cy="10972"/>
          </a:xfrm>
          <a:prstGeom prst="rect">
            <a:avLst/>
          </a:prstGeom>
          <a:solidFill>
            <a:srgbClr val="1C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2971800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4CC6F1"/>
                </a:solidFill>
                <a:latin typeface="Bahnschrift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2990088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50" b="1" i="0">
                <a:solidFill>
                  <a:srgbClr val="FFFFFF"/>
                </a:solidFill>
                <a:latin typeface="Bahnschrift"/>
              </a:rPr>
              <a:t>Топ клиентов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AB4C8"/>
                </a:solidFill>
                <a:latin typeface="Inter"/>
              </a:rPr>
              <a:t>сортировки в обе стороны по всем полям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904488"/>
            <a:ext cx="5257800" cy="10972"/>
          </a:xfrm>
          <a:prstGeom prst="rect">
            <a:avLst/>
          </a:prstGeom>
          <a:solidFill>
            <a:srgbClr val="1C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4069079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4CC6F1"/>
                </a:solidFill>
                <a:latin typeface="Bahnschrift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4087367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50" b="1" i="0">
                <a:solidFill>
                  <a:srgbClr val="FFFFFF"/>
                </a:solidFill>
                <a:latin typeface="Bahnschrift"/>
              </a:rPr>
              <a:t>Живое обновление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AB4C8"/>
                </a:solidFill>
                <a:latin typeface="Inter"/>
              </a:rPr>
              <a:t>пересчёт без перезагрузки страницы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001767"/>
            <a:ext cx="5257800" cy="10972"/>
          </a:xfrm>
          <a:prstGeom prst="rect">
            <a:avLst/>
          </a:prstGeom>
          <a:solidFill>
            <a:srgbClr val="1C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166359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4CC6F1"/>
                </a:solidFill>
                <a:latin typeface="Bahnschrift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5184647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50" b="1" i="0">
                <a:solidFill>
                  <a:srgbClr val="FFFFFF"/>
                </a:solidFill>
                <a:latin typeface="Bahnschrift"/>
              </a:rPr>
              <a:t>Денежная оценка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AB4C8"/>
                </a:solidFill>
                <a:latin typeface="Inter"/>
              </a:rPr>
              <a:t>потери по услугам, балансам и риску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099047"/>
            <a:ext cx="5257800" cy="10972"/>
          </a:xfrm>
          <a:prstGeom prst="rect">
            <a:avLst/>
          </a:prstGeom>
          <a:solidFill>
            <a:srgbClr val="1C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63640" y="1874519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4CC6F1"/>
                </a:solidFill>
                <a:latin typeface="Bahnschrift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1892807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50" b="1" i="0">
                <a:solidFill>
                  <a:srgbClr val="FFFFFF"/>
                </a:solidFill>
                <a:latin typeface="Bahnschrift"/>
              </a:rPr>
              <a:t>/metrics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AB4C8"/>
                </a:solidFill>
                <a:latin typeface="Inter"/>
              </a:rPr>
              <a:t>агрегированные показатели для Prometheus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2807207"/>
            <a:ext cx="5257800" cy="10972"/>
          </a:xfrm>
          <a:prstGeom prst="rect">
            <a:avLst/>
          </a:prstGeom>
          <a:solidFill>
            <a:srgbClr val="1C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63640" y="2971800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4CC6F1"/>
                </a:solidFill>
                <a:latin typeface="Bahnschrift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2990088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50" b="1" i="0">
                <a:solidFill>
                  <a:srgbClr val="FFFFFF"/>
                </a:solidFill>
                <a:latin typeface="Bahnschrift"/>
              </a:rPr>
              <a:t>Расширяемость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AB4C8"/>
                </a:solidFill>
                <a:latin typeface="Inter"/>
              </a:rPr>
              <a:t>новый признак — минимальной правкой кода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904488"/>
            <a:ext cx="5257800" cy="10972"/>
          </a:xfrm>
          <a:prstGeom prst="rect">
            <a:avLst/>
          </a:prstGeom>
          <a:solidFill>
            <a:srgbClr val="1C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63640" y="4069079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4CC6F1"/>
                </a:solidFill>
                <a:latin typeface="Bahnschrift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4087367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50" b="1" i="0">
                <a:solidFill>
                  <a:srgbClr val="FFFFFF"/>
                </a:solidFill>
                <a:latin typeface="Bahnschrift"/>
              </a:rPr>
              <a:t>Аутентификация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AB4C8"/>
                </a:solidFill>
                <a:latin typeface="Inter"/>
              </a:rPr>
              <a:t>вход защищает панель и API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5001767"/>
            <a:ext cx="5257800" cy="10972"/>
          </a:xfrm>
          <a:prstGeom prst="rect">
            <a:avLst/>
          </a:prstGeom>
          <a:solidFill>
            <a:srgbClr val="1C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63640" y="5166359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4CC6F1"/>
                </a:solidFill>
                <a:latin typeface="Bahnschrift"/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5184647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50" b="1" i="0">
                <a:solidFill>
                  <a:srgbClr val="FFFFFF"/>
                </a:solidFill>
                <a:latin typeface="Bahnschrift"/>
              </a:rPr>
              <a:t>Docker Compose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AB4C8"/>
                </a:solidFill>
                <a:latin typeface="Inter"/>
              </a:rPr>
              <a:t>запуск решения одной командой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6099047"/>
            <a:ext cx="5257800" cy="10972"/>
          </a:xfrm>
          <a:prstGeom prst="rect">
            <a:avLst/>
          </a:prstGeom>
          <a:solidFill>
            <a:srgbClr val="1C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94560" y="2011680"/>
            <a:ext cx="4206240" cy="420624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4846320"/>
            <a:ext cx="1234440" cy="1234440"/>
          </a:xfrm>
          <a:prstGeom prst="ellipse">
            <a:avLst/>
          </a:prstGeom>
          <a:noFill/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8408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33271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60704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88136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5567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4300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50976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78408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584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33271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0704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88136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15567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4300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149840" y="502920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149840" y="621792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149840" y="740664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320272" y="228600"/>
            <a:ext cx="25603" cy="105156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320272" y="228600"/>
            <a:ext cx="1252728" cy="25603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438912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4CC6F1"/>
                </a:solidFill>
                <a:latin typeface="Inter"/>
              </a:rPr>
              <a:t>БАЗА ДАННЫХ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768096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Bahnschrift"/>
              </a:rPr>
              <a:t>Слой данных в числах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" y="1499616"/>
            <a:ext cx="1005840" cy="4572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AB4C8"/>
                </a:solidFill>
                <a:latin typeface="Inter"/>
              </a:rPr>
              <a:t>Aéza · Анализатор рисков оттока · команда «Программисты»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9AB4C8"/>
                </a:solidFill>
                <a:latin typeface="Inter"/>
              </a:rPr>
              <a:t>8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1828800"/>
            <a:ext cx="12801" cy="4160520"/>
          </a:xfrm>
          <a:prstGeom prst="rect">
            <a:avLst/>
          </a:prstGeom>
          <a:solidFill>
            <a:srgbClr val="24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75320" y="1828800"/>
            <a:ext cx="12801" cy="4160520"/>
          </a:xfrm>
          <a:prstGeom prst="rect">
            <a:avLst/>
          </a:prstGeom>
          <a:solidFill>
            <a:srgbClr val="24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846320" y="3977639"/>
            <a:ext cx="6766560" cy="12801"/>
          </a:xfrm>
          <a:prstGeom prst="rect">
            <a:avLst/>
          </a:prstGeom>
          <a:solidFill>
            <a:srgbClr val="24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2011680"/>
            <a:ext cx="393192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0" b="1" i="0">
                <a:solidFill>
                  <a:srgbClr val="4CC6F1"/>
                </a:solidFill>
                <a:latin typeface="Bahnschrift"/>
              </a:rPr>
              <a:t>14/14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50" b="0" i="0">
                <a:solidFill>
                  <a:srgbClr val="FFFFFF"/>
                </a:solidFill>
                <a:latin typeface="Inter"/>
              </a:rPr>
              <a:t>негативных тестов: каждое нарушение отклонено верной ошибкой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9AB4C8"/>
                </a:solidFill>
                <a:latin typeface="Inter"/>
              </a:rPr>
              <a:t>Плюс: 5 таблиц в схеме · PostgreSQL 16.4 · живой стенд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8928" y="1920240"/>
            <a:ext cx="30175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Bahnschrift"/>
              </a:rPr>
              <a:t>20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CC6F1"/>
                </a:solidFill>
                <a:latin typeface="Inter"/>
              </a:rPr>
              <a:t>ограничений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9AB4C8"/>
                </a:solidFill>
                <a:latin typeface="Inter"/>
              </a:rPr>
              <a:t>CHECK · FK RESTRICT · UNIQUE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1920240"/>
            <a:ext cx="30175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Bahnschrift"/>
              </a:rPr>
              <a:t>12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CC6F1"/>
                </a:solidFill>
                <a:latin typeface="Inter"/>
              </a:rPr>
              <a:t>индексов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9AB4C8"/>
                </a:solidFill>
                <a:latin typeface="Inter"/>
              </a:rPr>
              <a:t>построены от запросов панели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38928" y="4114800"/>
            <a:ext cx="30175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Bahnschrift"/>
              </a:rPr>
              <a:t>0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CC6F1"/>
                </a:solidFill>
                <a:latin typeface="Inter"/>
              </a:rPr>
              <a:t>сирот после снапшота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9AB4C8"/>
                </a:solidFill>
                <a:latin typeface="Inter"/>
              </a:rPr>
              <a:t>перезаливка среза 10/30/100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4114800"/>
            <a:ext cx="30175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Bahnschrift"/>
              </a:rPr>
              <a:t>EUR 1=100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CC6F1"/>
                </a:solidFill>
                <a:latin typeface="Inter"/>
              </a:rPr>
              <a:t>еврокопейки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9AB4C8"/>
                </a:solidFill>
                <a:latin typeface="Inter"/>
              </a:rPr>
              <a:t>одна денежная единица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78240" y="4206240"/>
            <a:ext cx="5669280" cy="566928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4937760"/>
            <a:ext cx="3108960" cy="310896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1097280"/>
            <a:ext cx="1234440" cy="1234440"/>
          </a:xfrm>
          <a:prstGeom prst="ellipse">
            <a:avLst/>
          </a:prstGeom>
          <a:noFill/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78408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1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60704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88136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15567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4300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0976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8408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33271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60704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88136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15567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4300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149840" y="502920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149840" y="621792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149840" y="740664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320272" y="228600"/>
            <a:ext cx="25603" cy="105156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320272" y="228600"/>
            <a:ext cx="1252728" cy="25603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438912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4CC6F1"/>
                </a:solidFill>
                <a:latin typeface="Inter"/>
              </a:rPr>
              <a:t>КРИТЕРИИ ПРИЁМКИ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768096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Bahnschrift"/>
              </a:rPr>
              <a:t>Каждый пункт ТЗ закрыт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" y="1499616"/>
            <a:ext cx="1005840" cy="4572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AB4C8"/>
                </a:solidFill>
                <a:latin typeface="Inter"/>
              </a:rPr>
              <a:t>Aéza · Анализатор рисков оттока · команда «Программисты»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9AB4C8"/>
                </a:solidFill>
                <a:latin typeface="Inter"/>
              </a:rPr>
              <a:t>9 / 13</a:t>
            </a:r>
          </a:p>
        </p:txBody>
      </p:sp>
      <p:sp>
        <p:nvSpPr>
          <p:cNvPr id="32" name="Oval 31"/>
          <p:cNvSpPr/>
          <p:nvPr/>
        </p:nvSpPr>
        <p:spPr>
          <a:xfrm>
            <a:off x="594360" y="1920240"/>
            <a:ext cx="457200" cy="457200"/>
          </a:xfrm>
          <a:prstGeom prst="ellipse">
            <a:avLst/>
          </a:prstGeom>
          <a:solidFill>
            <a:srgbClr val="182D48"/>
          </a:solidFill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4CC6F1"/>
                </a:solidFill>
                <a:latin typeface="Inter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196596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Bahnschrift"/>
              </a:rPr>
              <a:t>Коэффициенты переживают перезапуск</a:t>
            </a:r>
            <a:r>
              <a:rPr sz="1350" b="0" i="0">
                <a:solidFill>
                  <a:srgbClr val="9AB4C8"/>
                </a:solidFill>
                <a:latin typeface="Consolas"/>
              </a:rPr>
              <a:t>    singleton modelSettings, CHECK id =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0160" y="2523744"/>
            <a:ext cx="10241280" cy="10972"/>
          </a:xfrm>
          <a:prstGeom prst="rect">
            <a:avLst/>
          </a:prstGeom>
          <a:solidFill>
            <a:srgbClr val="1C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94360" y="2633472"/>
            <a:ext cx="457200" cy="457200"/>
          </a:xfrm>
          <a:prstGeom prst="ellipse">
            <a:avLst/>
          </a:prstGeom>
          <a:solidFill>
            <a:srgbClr val="182D48"/>
          </a:solidFill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4CC6F1"/>
                </a:solidFill>
                <a:latin typeface="Inter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267919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Bahnschrift"/>
              </a:rPr>
              <a:t>Замена среза данных</a:t>
            </a:r>
            <a:r>
              <a:rPr sz="1350" b="0" i="0">
                <a:solidFill>
                  <a:srgbClr val="9AB4C8"/>
                </a:solidFill>
                <a:latin typeface="Consolas"/>
              </a:rPr>
              <a:t>    PUT /source/snapshot — атомарно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0160" y="3236976"/>
            <a:ext cx="10241280" cy="10972"/>
          </a:xfrm>
          <a:prstGeom prst="rect">
            <a:avLst/>
          </a:prstGeom>
          <a:solidFill>
            <a:srgbClr val="1C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94360" y="3346704"/>
            <a:ext cx="457200" cy="457200"/>
          </a:xfrm>
          <a:prstGeom prst="ellipse">
            <a:avLst/>
          </a:prstGeom>
          <a:solidFill>
            <a:srgbClr val="182D48"/>
          </a:solidFill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4CC6F1"/>
                </a:solidFill>
                <a:latin typeface="Inter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3392424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Bahnschrift"/>
              </a:rPr>
              <a:t>Деньги в еврокопейках</a:t>
            </a:r>
            <a:r>
              <a:rPr sz="1350" b="0" i="0">
                <a:solidFill>
                  <a:srgbClr val="9AB4C8"/>
                </a:solidFill>
                <a:latin typeface="Consolas"/>
              </a:rPr>
              <a:t>    EUR 1 = 100, CHECK &gt;= 0 на балансах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0160" y="3950208"/>
            <a:ext cx="10241280" cy="10972"/>
          </a:xfrm>
          <a:prstGeom prst="rect">
            <a:avLst/>
          </a:prstGeom>
          <a:solidFill>
            <a:srgbClr val="1C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94360" y="4059935"/>
            <a:ext cx="457200" cy="457200"/>
          </a:xfrm>
          <a:prstGeom prst="ellipse">
            <a:avLst/>
          </a:prstGeom>
          <a:solidFill>
            <a:srgbClr val="182D48"/>
          </a:solidFill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4CC6F1"/>
                </a:solidFill>
                <a:latin typeface="Inter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105655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Bahnschrift"/>
              </a:rPr>
              <a:t>Аутентификация панели и API</a:t>
            </a:r>
            <a:r>
              <a:rPr sz="1350" b="0" i="0">
                <a:solidFill>
                  <a:srgbClr val="9AB4C8"/>
                </a:solidFill>
                <a:latin typeface="Consolas"/>
              </a:rPr>
              <a:t>    bcrypt char(60) · сессии · RBAC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80160" y="4663439"/>
            <a:ext cx="10241280" cy="10972"/>
          </a:xfrm>
          <a:prstGeom prst="rect">
            <a:avLst/>
          </a:prstGeom>
          <a:solidFill>
            <a:srgbClr val="1C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94360" y="4773168"/>
            <a:ext cx="457200" cy="457200"/>
          </a:xfrm>
          <a:prstGeom prst="ellipse">
            <a:avLst/>
          </a:prstGeom>
          <a:solidFill>
            <a:srgbClr val="182D48"/>
          </a:solidFill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4CC6F1"/>
                </a:solidFill>
                <a:latin typeface="Inter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48188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Bahnschrift"/>
              </a:rPr>
              <a:t>Swagger и OpenAPI</a:t>
            </a:r>
            <a:r>
              <a:rPr sz="1350" b="0" i="0">
                <a:solidFill>
                  <a:srgbClr val="9AB4C8"/>
                </a:solidFill>
                <a:latin typeface="Consolas"/>
              </a:rPr>
              <a:t>    /api/v1/docs + openapi.yaml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80160" y="5376672"/>
            <a:ext cx="10241280" cy="10972"/>
          </a:xfrm>
          <a:prstGeom prst="rect">
            <a:avLst/>
          </a:prstGeom>
          <a:solidFill>
            <a:srgbClr val="1C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94360" y="5486400"/>
            <a:ext cx="457200" cy="457200"/>
          </a:xfrm>
          <a:prstGeom prst="ellipse">
            <a:avLst/>
          </a:prstGeom>
          <a:solidFill>
            <a:srgbClr val="182D48"/>
          </a:solidFill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4CC6F1"/>
                </a:solidFill>
                <a:latin typeface="Inter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553212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Bahnschrift"/>
              </a:rPr>
              <a:t>Docker Compose и /metrics</a:t>
            </a:r>
            <a:r>
              <a:rPr sz="1350" b="0" i="0">
                <a:solidFill>
                  <a:srgbClr val="9AB4C8"/>
                </a:solidFill>
                <a:latin typeface="Consolas"/>
              </a:rPr>
              <a:t>    запуск по README · Prometheus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/>
          <p:cNvSpPr/>
          <p:nvPr/>
        </p:nvSpPr>
        <p:spPr>
          <a:xfrm>
            <a:off x="2084831" y="3529584"/>
            <a:ext cx="219456" cy="219456"/>
          </a:xfrm>
          <a:prstGeom prst="ellipse">
            <a:avLst/>
          </a:prstGeom>
          <a:solidFill>
            <a:srgbClr val="E97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94560" y="4023360"/>
            <a:ext cx="5669280" cy="566928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4754880"/>
            <a:ext cx="3108960" cy="310896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" y="1188720"/>
            <a:ext cx="1234440" cy="1234440"/>
          </a:xfrm>
          <a:prstGeom prst="ellipse">
            <a:avLst/>
          </a:prstGeom>
          <a:noFill/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3444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50875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78308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574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33171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60604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58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012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3444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50875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78308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574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33171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60604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149840" y="502920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149840" y="621792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149840" y="740664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320272" y="228600"/>
            <a:ext cx="25603" cy="105156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320272" y="228600"/>
            <a:ext cx="1252728" cy="25603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438912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4CC6F1"/>
                </a:solidFill>
                <a:latin typeface="Inter"/>
              </a:rPr>
              <a:t>ЧТО ДАЛЬШЕ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768096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Bahnschrift"/>
              </a:rPr>
              <a:t>Роадмап поверх готовой схемы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" y="1499616"/>
            <a:ext cx="1005840" cy="4572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AB4C8"/>
                </a:solidFill>
                <a:latin typeface="Inter"/>
              </a:rPr>
              <a:t>Aéza · Анализатор рисков оттока · команда «Программисты»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9AB4C8"/>
                </a:solidFill>
                <a:latin typeface="Inter"/>
              </a:rPr>
              <a:t>10 / 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3611880"/>
            <a:ext cx="10332720" cy="45720"/>
          </a:xfrm>
          <a:prstGeom prst="rect">
            <a:avLst/>
          </a:prstGeom>
          <a:solidFill>
            <a:srgbClr val="24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Isosceles Triangle 32"/>
          <p:cNvSpPr/>
          <p:nvPr/>
        </p:nvSpPr>
        <p:spPr>
          <a:xfrm rot="5400000">
            <a:off x="11228832" y="3493008"/>
            <a:ext cx="274320" cy="274320"/>
          </a:xfrm>
          <a:prstGeom prst="triangle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417319" y="340156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24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 i="0" dirty="0" err="1">
                <a:solidFill>
                  <a:srgbClr val="E97C35"/>
                </a:solidFill>
                <a:latin typeface="Inter"/>
              </a:rPr>
              <a:t>Идея</a:t>
            </a:r>
            <a:r>
              <a:rPr sz="1350" b="1" i="0" dirty="0">
                <a:solidFill>
                  <a:srgbClr val="E97C35"/>
                </a:solidFill>
                <a:latin typeface="Inter"/>
              </a:rPr>
              <a:t>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233172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Bahnschrift"/>
              </a:rPr>
              <a:t>Миграция 004_backend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" y="406908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AB4C8"/>
                </a:solidFill>
                <a:latin typeface="Inter"/>
              </a:rPr>
              <a:t>sessions, login_attempts, source_state — под бэкенд</a:t>
            </a:r>
          </a:p>
        </p:txBody>
      </p:sp>
      <p:sp>
        <p:nvSpPr>
          <p:cNvPr id="39" name="Oval 38"/>
          <p:cNvSpPr/>
          <p:nvPr/>
        </p:nvSpPr>
        <p:spPr>
          <a:xfrm>
            <a:off x="5833872" y="3529584"/>
            <a:ext cx="219456" cy="219456"/>
          </a:xfrm>
          <a:prstGeom prst="ellipse">
            <a:avLst/>
          </a:prstGeom>
          <a:solidFill>
            <a:srgbClr val="E97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60520" y="233172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 dirty="0">
                <a:solidFill>
                  <a:srgbClr val="FFFFFF"/>
                </a:solidFill>
                <a:latin typeface="Bahnschrift"/>
              </a:rPr>
              <a:t>OIDC-</a:t>
            </a:r>
            <a:r>
              <a:rPr sz="1800" b="1" i="0" dirty="0" err="1">
                <a:solidFill>
                  <a:srgbClr val="FFFFFF"/>
                </a:solidFill>
                <a:latin typeface="Bahnschrift"/>
              </a:rPr>
              <a:t>аутентификация</a:t>
            </a:r>
            <a:endParaRPr sz="1800" b="1" i="0" dirty="0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160520" y="406908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AB4C8"/>
                </a:solidFill>
                <a:latin typeface="Inter"/>
              </a:rPr>
              <a:t>дополнительный вход: доп. баллы по критериям</a:t>
            </a:r>
          </a:p>
        </p:txBody>
      </p:sp>
      <p:sp>
        <p:nvSpPr>
          <p:cNvPr id="43" name="Oval 42"/>
          <p:cNvSpPr/>
          <p:nvPr/>
        </p:nvSpPr>
        <p:spPr>
          <a:xfrm>
            <a:off x="9582912" y="3529584"/>
            <a:ext cx="219456" cy="219456"/>
          </a:xfrm>
          <a:prstGeom prst="ellipse">
            <a:avLst/>
          </a:prstGeom>
          <a:solidFill>
            <a:srgbClr val="E97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09560" y="233172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Bahnschrift"/>
              </a:rPr>
              <a:t>График оттока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406908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AB4C8"/>
                </a:solidFill>
                <a:latin typeface="Inter"/>
              </a:rPr>
              <a:t>непродления: факт и прогноз различимы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66360" y="340156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24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E97C35"/>
                </a:solidFill>
                <a:latin typeface="Inter"/>
              </a:rPr>
              <a:t>Идея 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15400" y="340156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24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E97C35"/>
                </a:solidFill>
                <a:latin typeface="Inter"/>
              </a:rPr>
              <a:t>Идея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961120" y="-2194560"/>
            <a:ext cx="5852160" cy="585216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566160" cy="356616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881360" y="3017520"/>
            <a:ext cx="1234440" cy="1234440"/>
          </a:xfrm>
          <a:prstGeom prst="ellipse">
            <a:avLst/>
          </a:prstGeom>
          <a:noFill/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3444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50875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78308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574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33171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60604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58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012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3444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50875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78308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574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33171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60604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966960" y="548640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966960" y="667512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966960" y="786384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137392" y="274320"/>
            <a:ext cx="25603" cy="105156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137392" y="274320"/>
            <a:ext cx="1252728" cy="25603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77240" y="73152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18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Bahnschrift"/>
              </a:rPr>
              <a:t>é</a:t>
            </a:r>
          </a:p>
        </p:txBody>
      </p:sp>
      <p:sp>
        <p:nvSpPr>
          <p:cNvPr id="28" name="Oval 27"/>
          <p:cNvSpPr/>
          <p:nvPr/>
        </p:nvSpPr>
        <p:spPr>
          <a:xfrm>
            <a:off x="7863840" y="1234440"/>
            <a:ext cx="3200400" cy="3200400"/>
          </a:xfrm>
          <a:prstGeom prst="ellipse">
            <a:avLst/>
          </a:prstGeom>
          <a:noFill/>
          <a:ln w="1905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2286000"/>
            <a:ext cx="65836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4800" b="1" i="0">
                <a:solidFill>
                  <a:srgbClr val="FFFFFF"/>
                </a:solidFill>
                <a:latin typeface="Bahnschrift"/>
              </a:rPr>
              <a:t>Программисты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 i="0">
                <a:solidFill>
                  <a:srgbClr val="D7E9F4"/>
                </a:solidFill>
                <a:latin typeface="Inter"/>
              </a:rPr>
              <a:t>слой данных, который переживает всё:
перезапуск, заливку нового среза и 14 попыток его сломать.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4CC6F1"/>
                </a:solidFill>
                <a:latin typeface="Bahnschrift"/>
              </a:rPr>
              <a:t>надёжно · просто · быстро — спасибо!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8431" y="2212848"/>
            <a:ext cx="2871216" cy="2871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qr_aeza_v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2340864"/>
            <a:ext cx="2615184" cy="261518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315200" y="525780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CC6F1"/>
                </a:solidFill>
                <a:latin typeface="Consolas"/>
              </a:rPr>
              <a:t>Сканируйте QR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9AB4C8"/>
                </a:solidFill>
                <a:latin typeface="Inter"/>
              </a:rPr>
              <a:t>код · схема · миграции · документация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94560" y="2011680"/>
            <a:ext cx="4206240" cy="420624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4846320"/>
            <a:ext cx="1234440" cy="1234440"/>
          </a:xfrm>
          <a:prstGeom prst="ellipse">
            <a:avLst/>
          </a:prstGeom>
          <a:noFill/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8408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33271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60704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88136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5567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4300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50976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78408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584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33271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0704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88136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15567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4300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149840" y="502920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149840" y="621792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149840" y="740664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320272" y="228600"/>
            <a:ext cx="25603" cy="105156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320272" y="228600"/>
            <a:ext cx="1252728" cy="25603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438912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4CC6F1"/>
                </a:solidFill>
                <a:latin typeface="Inter"/>
              </a:rPr>
              <a:t>СЦЕНАРИЙ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768096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Bahnschrift"/>
              </a:rPr>
              <a:t>Находим клиента под риском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" y="1499616"/>
            <a:ext cx="1005840" cy="4572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AB4C8"/>
                </a:solidFill>
                <a:latin typeface="Inter"/>
              </a:rPr>
              <a:t>Aéza · Анализатор рисков оттока · команда «Программисты»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9AB4C8"/>
                </a:solidFill>
                <a:latin typeface="Inter"/>
              </a:rPr>
              <a:t>12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1828800"/>
            <a:ext cx="12801" cy="4160520"/>
          </a:xfrm>
          <a:prstGeom prst="rect">
            <a:avLst/>
          </a:prstGeom>
          <a:solidFill>
            <a:srgbClr val="24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75320" y="1828800"/>
            <a:ext cx="12801" cy="4160520"/>
          </a:xfrm>
          <a:prstGeom prst="rect">
            <a:avLst/>
          </a:prstGeom>
          <a:solidFill>
            <a:srgbClr val="24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846320" y="3977639"/>
            <a:ext cx="6766560" cy="12801"/>
          </a:xfrm>
          <a:prstGeom prst="rect">
            <a:avLst/>
          </a:prstGeom>
          <a:solidFill>
            <a:srgbClr val="24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2011680"/>
            <a:ext cx="393192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0" b="1" i="0">
                <a:solidFill>
                  <a:srgbClr val="4CC6F1"/>
                </a:solidFill>
                <a:latin typeface="Bahnschrift"/>
              </a:rPr>
              <a:t>HIGH 82/100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50" b="0" i="0">
                <a:solidFill>
                  <a:srgbClr val="FFFFFF"/>
                </a:solidFill>
                <a:latin typeface="Inter"/>
              </a:rPr>
              <a:t>ООО «Вектор» · клиент 1842 · риск оттока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9AB4C8"/>
                </a:solidFill>
                <a:latin typeface="Inter"/>
              </a:rPr>
              <a:t>Экспозиция: €59,70/мес · 3 услуги · 3 дня до продления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8928" y="1920240"/>
            <a:ext cx="30175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Bahnschrift"/>
              </a:rPr>
              <a:t>€59,70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CC6F1"/>
                </a:solidFill>
                <a:latin typeface="Inter"/>
              </a:rPr>
              <a:t>выручка под риском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9AB4C8"/>
                </a:solidFill>
                <a:latin typeface="Inter"/>
              </a:rPr>
              <a:t>3 услуги × €19,90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1920240"/>
            <a:ext cx="30175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Bahnschrift"/>
              </a:rPr>
              <a:t>€4,80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CC6F1"/>
                </a:solidFill>
                <a:latin typeface="Inter"/>
              </a:rPr>
              <a:t>баланс клиента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9AB4C8"/>
                </a:solidFill>
                <a:latin typeface="Inter"/>
              </a:rPr>
              <a:t>не хватает €15,10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38928" y="4114800"/>
            <a:ext cx="30175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Bahnschrift"/>
              </a:rPr>
              <a:t>3 дня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CC6F1"/>
                </a:solidFill>
                <a:latin typeface="Inter"/>
              </a:rPr>
              <a:t>до продления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9AB4C8"/>
                </a:solidFill>
                <a:latin typeface="Inter"/>
              </a:rPr>
              <a:t>автопродление выключено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4114800"/>
            <a:ext cx="30175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Bahnschrift"/>
              </a:rPr>
              <a:t>3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CC6F1"/>
                </a:solidFill>
                <a:latin typeface="Inter"/>
              </a:rPr>
              <a:t>причины риска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9AB4C8"/>
                </a:solidFill>
                <a:latin typeface="Inter"/>
              </a:rPr>
              <a:t>срок · баланс · автопродление</a:t>
            </a:r>
          </a:p>
        </p:txBody>
      </p:sp>
      <p:pic>
        <p:nvPicPr>
          <p:cNvPr id="1200" name="AEZA mascot" descr="tan_X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48640"/>
            <a:ext cx="822960" cy="16954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94560" y="2011680"/>
            <a:ext cx="4206240" cy="4206240"/>
          </a:xfrm>
          <a:prstGeom prst="ellipse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4846320"/>
            <a:ext cx="1234440" cy="1234440"/>
          </a:xfrm>
          <a:prstGeom prst="ellipse">
            <a:avLst/>
          </a:prstGeom>
          <a:noFill/>
          <a:ln w="17780">
            <a:solidFill>
              <a:srgbClr val="4CC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8408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33271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60704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88136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55679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430000" y="571500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50976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78408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584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33271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0704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88136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155679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430000" y="5989320"/>
            <a:ext cx="41148" cy="41148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149840" y="502920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149840" y="621792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149840" y="740664"/>
            <a:ext cx="1417320" cy="25603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320272" y="228600"/>
            <a:ext cx="25603" cy="105156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320272" y="228600"/>
            <a:ext cx="1252728" cy="25603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438912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4CC6F1"/>
                </a:solidFill>
                <a:latin typeface="Inter"/>
              </a:rPr>
              <a:t>СЦЕНАРИЙ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768096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Bahnschrift"/>
              </a:rPr>
              <a:t>Меняем данные — панель обновляется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" y="1499616"/>
            <a:ext cx="1005840" cy="4572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AB4C8"/>
                </a:solidFill>
                <a:latin typeface="Inter"/>
              </a:rPr>
              <a:t>Aéza · Анализатор рисков оттока · команда «Программисты»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9AB4C8"/>
                </a:solidFill>
                <a:latin typeface="Inter"/>
              </a:rPr>
              <a:t>13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1828800"/>
            <a:ext cx="12801" cy="4160520"/>
          </a:xfrm>
          <a:prstGeom prst="rect">
            <a:avLst/>
          </a:prstGeom>
          <a:solidFill>
            <a:srgbClr val="24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75320" y="1828800"/>
            <a:ext cx="12801" cy="4160520"/>
          </a:xfrm>
          <a:prstGeom prst="rect">
            <a:avLst/>
          </a:prstGeom>
          <a:solidFill>
            <a:srgbClr val="24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846320" y="3977639"/>
            <a:ext cx="6766560" cy="12801"/>
          </a:xfrm>
          <a:prstGeom prst="rect">
            <a:avLst/>
          </a:prstGeom>
          <a:solidFill>
            <a:srgbClr val="24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2011680"/>
            <a:ext cx="393192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0" b="1" i="0">
                <a:solidFill>
                  <a:srgbClr val="4CC6F1"/>
                </a:solidFill>
                <a:latin typeface="Bahnschrift"/>
              </a:rPr>
              <a:t>82 → 23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50" b="0" i="0">
                <a:solidFill>
                  <a:srgbClr val="FFFFFF"/>
                </a:solidFill>
                <a:latin typeface="Inter"/>
              </a:rPr>
              <a:t>auto_renew: false → true · balance: €4,80 → €25,00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9AB4C8"/>
                </a:solidFill>
                <a:latin typeface="Inter"/>
              </a:rPr>
              <a:t>PUT /source/snapshot · пересчёт без reload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8928" y="1920240"/>
            <a:ext cx="30175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Bahnschrift"/>
              </a:rPr>
              <a:t>€48,95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CC6F1"/>
                </a:solidFill>
                <a:latin typeface="Inter"/>
              </a:rPr>
              <a:t>ожидаемая потеря до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9AB4C8"/>
                </a:solidFill>
                <a:latin typeface="Inter"/>
              </a:rPr>
              <a:t>0,82 × €59,70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1920240"/>
            <a:ext cx="30175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Bahnschrift"/>
              </a:rPr>
              <a:t>€13,73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CC6F1"/>
                </a:solidFill>
                <a:latin typeface="Inter"/>
              </a:rPr>
              <a:t>ожидаемая потеря после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9AB4C8"/>
                </a:solidFill>
                <a:latin typeface="Inter"/>
              </a:rPr>
              <a:t>0,23 × €59,70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38928" y="4114800"/>
            <a:ext cx="30175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Bahnschrift"/>
              </a:rPr>
              <a:t>HIGH → LOW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CC6F1"/>
                </a:solidFill>
                <a:latin typeface="Inter"/>
              </a:rPr>
              <a:t>уровень риска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9AB4C8"/>
                </a:solidFill>
                <a:latin typeface="Inter"/>
              </a:rPr>
              <a:t>результат обновился автоматически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4114800"/>
            <a:ext cx="30175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Bahnschrift"/>
              </a:rPr>
              <a:t>1 шаг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CC6F1"/>
                </a:solidFill>
                <a:latin typeface="Inter"/>
              </a:rPr>
              <a:t>обновление данных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9AB4C8"/>
                </a:solidFill>
                <a:latin typeface="Inter"/>
              </a:rPr>
              <a:t>новый snapshot в PostgreSQL</a:t>
            </a:r>
          </a:p>
        </p:txBody>
      </p:sp>
      <p:pic>
        <p:nvPicPr>
          <p:cNvPr id="1201" name="AEZA mascot" descr="tan_X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48640"/>
            <a:ext cx="822960" cy="1695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761</Words>
  <Application>Microsoft Office PowerPoint</Application>
  <PresentationFormat>Широкоэкранный</PresentationFormat>
  <Paragraphs>168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Bahnschrift</vt:lpstr>
      <vt:lpstr>Calibri</vt:lpstr>
      <vt:lpstr>Consolas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annabelenowskaa@gmail.com</cp:lastModifiedBy>
  <cp:revision>3</cp:revision>
  <dcterms:created xsi:type="dcterms:W3CDTF">2013-01-27T09:14:16Z</dcterms:created>
  <dcterms:modified xsi:type="dcterms:W3CDTF">2026-10-24T21:34:31Z</dcterms:modified>
  <cp:category/>
</cp:coreProperties>
</file>